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4" r:id="rId4"/>
    <p:sldId id="258" r:id="rId5"/>
    <p:sldId id="259" r:id="rId6"/>
    <p:sldId id="265" r:id="rId7"/>
    <p:sldId id="260" r:id="rId8"/>
    <p:sldId id="261" r:id="rId9"/>
    <p:sldId id="263" r:id="rId10"/>
    <p:sldId id="266" r:id="rId11"/>
    <p:sldId id="267" r:id="rId12"/>
    <p:sldId id="268" r:id="rId13"/>
    <p:sldId id="262"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792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everything in [brackets]. Delete all grey guidance text before you present. 5 slides after this one, 5 minutes in total. Every member speaks.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project README and execution report at https://github.com/mhamedelmasery654-sys/robot-control-backend. The project provides a recording backend for future website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project README and API documentation. This diagram distinguishes the current API and database path from the planned website integration. The service does not issue hardware commands. https://github.com/mhamedelmasery654-sys/robot-control-backend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https://github.com/mhamedelmasery654-sys/robot-control-backend/blob/main/README.md and https://github.com/mhamedelmasery654-sys/robot-control-backend/blob/main/README-execution-report.md. I also sent read-only GET requests to /api/v1/health/live and /api/v1/health/ready on 24 October 2026; both returned HTTP 200, and readiness reported PostgreSQL and MongoDB up. No market survey figures were provided, so this slide uses project verification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public README and API overview. The WebSocket endpoint records authenticated events and acknowledges them after MongoDB accepts the event. It does not transmit motor commands. https://github.com/mhamedelmasery654-sys/robot-control-backend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public OpenAPI specification and API overview. Example values are synthetic and contain no account identifiers, tokens, real device telemetry or command payloads. https://github.com/mhamedelmasery654-sys/robot-control-backend/blob/main/postman/specs/openapi.yaml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project README, current deployment section, and live readiness endpoint. The service is a Docker web service on Render. Current commercial pricing has not been set. The service-level health-check field still needs to be configured to /api/v1/health/ready.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screenshots captured from the open Postman and DBeaver applications on 24 October 2026. The Postman screenshot shows the local readiness request definition; it is not a live Postman response. The DBeaver screenshot shows a read-only SELECT 1 result from the local PostgreSQL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supplied Atlas IP Access List screenshot included the laptop public IP. The embedded evidence image replaces that address with a redaction. Render outbound ranges remain visible. Source image supplied by the project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HTTP requests were sent to the published Render service on 24 October 2026 at 18:58 Cairo. Overall verification: 22 passed, 0 failed. Health group: 3 of 3. All credentials and tokens were withheld from screenshots. No robot or motor command was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checks used a synthetic operator account and synthetic events on the production service. The account remains in production for now; its random password was not saved. The test session was closed. No real user data was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authenticated WebSocket connection and event acknowledgement were verified against production; a REST history read found the same event. The verification session then closed, and the API rejected another event for that closed session with HTTP 409. Synthetic test records were used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9A282-23EF-F8F5-61B6-2704D3F49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B002B-B4F4-E547-77B9-97F361D986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2F2D7-E4C4-A66B-16AD-5A108D6F5031}"/>
              </a:ext>
            </a:extLst>
          </p:cNvPr>
          <p:cNvSpPr>
            <a:spLocks noGrp="1"/>
          </p:cNvSpPr>
          <p:nvPr>
            <p:ph type="body" idx="1"/>
          </p:nvPr>
        </p:nvSpPr>
        <p:spPr/>
        <p:txBody>
          <a:bodyPr/>
          <a:lstStyle/>
          <a:p>
            <a:r>
              <a:rPr lang="en-US"/>
              <a:t>The live checks used a synthetic operator account that remains in the production database until explicitly removed. No password or token was retained in the evidence bundle. The backend has no robot actuation path.</a:t>
            </a:r>
            <a:endParaRPr lang="en-US" dirty="0"/>
          </a:p>
        </p:txBody>
      </p:sp>
      <p:sp>
        <p:nvSpPr>
          <p:cNvPr id="4" name="Slide Number Placeholder 3">
            <a:extLst>
              <a:ext uri="{FF2B5EF4-FFF2-40B4-BE49-F238E27FC236}">
                <a16:creationId xmlns:a16="http://schemas.microsoft.com/office/drawing/2014/main" id="{8D561363-F658-D4F6-4999-A510B90DA95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69598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hyperlink" Target="https://robot-control-backend.onrender.com/api/v1/health/ready" TargetMode="External"/><Relationship Id="rId3" Type="http://schemas.openxmlformats.org/officeDocument/2006/relationships/hyperlink" Target="https://github.com/mhamedelmasery654-sys/robot-control-backend" TargetMode="External"/><Relationship Id="rId7" Type="http://schemas.openxmlformats.org/officeDocument/2006/relationships/hyperlink" Target="https://robot-control-backend.onrender.com/api/v1"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robot-control-backend.onrender.com/" TargetMode="External"/><Relationship Id="rId11" Type="http://schemas.openxmlformats.org/officeDocument/2006/relationships/hyperlink" Target="https://dashboard.render.com/web/srv-dbecidm7bikc7380h1c0" TargetMode="External"/><Relationship Id="rId5" Type="http://schemas.openxmlformats.org/officeDocument/2006/relationships/hyperlink" Target="https://github.com/mhamedelmasery654-sys/robot-control-backend/blob/main/postman/specs/openapi.yaml" TargetMode="External"/><Relationship Id="rId10" Type="http://schemas.openxmlformats.org/officeDocument/2006/relationships/hyperlink" Target="https://github.com/mhamedelmasery654-sys" TargetMode="External"/><Relationship Id="rId4" Type="http://schemas.openxmlformats.org/officeDocument/2006/relationships/hyperlink" Target="https://github.com/mhamedelmasery654-sys/robot-control-backend/blob/main/README-execution-report.md" TargetMode="External"/><Relationship Id="rId9" Type="http://schemas.openxmlformats.org/officeDocument/2006/relationships/hyperlink" Target="https://robot-control-backend.onrender.com/api/v1/health/liv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3A"/>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C8963E"/>
          </a:solidFill>
          <a:ln w="12700">
            <a:solidFill>
              <a:srgbClr val="C8963E"/>
            </a:solidFill>
            <a:prstDash val="solid"/>
          </a:ln>
        </p:spPr>
        <p:txBody>
          <a:bodyPr/>
          <a:lstStyle/>
          <a:p>
            <a:endParaRPr lang="en-US"/>
          </a:p>
        </p:txBody>
      </p:sp>
      <p:sp>
        <p:nvSpPr>
          <p:cNvPr id="4" name="Text 2"/>
          <p:cNvSpPr txBox="1"/>
          <p:nvPr/>
        </p:nvSpPr>
        <p:spPr>
          <a:xfrm>
            <a:off x="822960" y="1920240"/>
            <a:ext cx="10058400" cy="914400"/>
          </a:xfrm>
          <a:prstGeom prst="rect">
            <a:avLst/>
          </a:prstGeom>
          <a:noFill/>
          <a:ln/>
        </p:spPr>
        <p:txBody>
          <a:bodyPr wrap="square" lIns="0" tIns="0" rIns="0" bIns="0" rtlCol="0" anchor="t"/>
          <a:lstStyle/>
          <a:p>
            <a:pPr marL="0" indent="0">
              <a:buNone/>
            </a:pPr>
            <a:r>
              <a:rPr lang="en-US" sz="4400" b="1">
                <a:solidFill>
                  <a:srgbClr val="FFFFFF"/>
                </a:solidFill>
                <a:latin typeface="Cambria" pitchFamily="34" charset="0"/>
                <a:ea typeface="Cambria" pitchFamily="34" charset="-122"/>
                <a:cs typeface="Cambria" pitchFamily="34" charset="-120"/>
              </a:rPr>
              <a:t>Robot Control Backend</a:t>
            </a:r>
            <a:endParaRPr lang="en-US" sz="4400" dirty="0"/>
          </a:p>
        </p:txBody>
      </p:sp>
      <p:sp>
        <p:nvSpPr>
          <p:cNvPr id="5" name="Text 3"/>
          <p:cNvSpPr txBox="1"/>
          <p:nvPr/>
        </p:nvSpPr>
        <p:spPr>
          <a:xfrm>
            <a:off x="822960" y="2926080"/>
            <a:ext cx="10058400" cy="457200"/>
          </a:xfrm>
          <a:prstGeom prst="rect">
            <a:avLst/>
          </a:prstGeom>
          <a:noFill/>
          <a:ln/>
        </p:spPr>
        <p:txBody>
          <a:bodyPr wrap="square" lIns="0" tIns="0" rIns="0" bIns="0" rtlCol="0" anchor="t"/>
          <a:lstStyle/>
          <a:p>
            <a:pPr marL="0" indent="0">
              <a:buNone/>
            </a:pPr>
            <a:r>
              <a:rPr lang="en-US" sz="1900" i="1">
                <a:solidFill>
                  <a:srgbClr val="CADCFC"/>
                </a:solidFill>
                <a:latin typeface="Calibri" pitchFamily="34" charset="0"/>
                <a:ea typeface="Calibri" pitchFamily="34" charset="-122"/>
                <a:cs typeface="Calibri" pitchFamily="34" charset="-120"/>
              </a:rPr>
              <a:t>A cloud API for recording robot-control sessions and events</a:t>
            </a:r>
            <a:endParaRPr lang="en-US" sz="1900" dirty="0"/>
          </a:p>
        </p:txBody>
      </p:sp>
      <p:sp>
        <p:nvSpPr>
          <p:cNvPr id="6" name="Shape 4"/>
          <p:cNvSpPr/>
          <p:nvPr/>
        </p:nvSpPr>
        <p:spPr>
          <a:xfrm>
            <a:off x="822960" y="3749040"/>
            <a:ext cx="3291840" cy="0"/>
          </a:xfrm>
          <a:prstGeom prst="line">
            <a:avLst/>
          </a:prstGeom>
          <a:noFill/>
          <a:ln w="19050">
            <a:solidFill>
              <a:srgbClr val="C8963E"/>
            </a:solidFill>
            <a:prstDash val="solid"/>
          </a:ln>
        </p:spPr>
        <p:txBody>
          <a:bodyPr/>
          <a:lstStyle/>
          <a:p>
            <a:endParaRPr lang="en-US"/>
          </a:p>
        </p:txBody>
      </p:sp>
      <p:sp>
        <p:nvSpPr>
          <p:cNvPr id="7" name="Text 5"/>
          <p:cNvSpPr txBox="1"/>
          <p:nvPr/>
        </p:nvSpPr>
        <p:spPr>
          <a:xfrm>
            <a:off x="822960" y="4023360"/>
            <a:ext cx="10515600" cy="365760"/>
          </a:xfrm>
          <a:prstGeom prst="rect">
            <a:avLst/>
          </a:prstGeom>
          <a:noFill/>
          <a:ln/>
        </p:spPr>
        <p:txBody>
          <a:bodyPr wrap="square" lIns="0" tIns="0" rIns="0" bIns="0" rtlCol="0" anchor="t"/>
          <a:lstStyle/>
          <a:p>
            <a:pPr marL="0" indent="0">
              <a:buNone/>
            </a:pPr>
            <a:r>
              <a:rPr lang="en-US" sz="1350">
                <a:solidFill>
                  <a:srgbClr val="FFFFFF"/>
                </a:solidFill>
                <a:latin typeface="Calibri" pitchFamily="34" charset="0"/>
                <a:ea typeface="Calibri" pitchFamily="34" charset="-122"/>
                <a:cs typeface="Calibri" pitchFamily="34" charset="-120"/>
              </a:rPr>
              <a:t>Khaled Mohamed Ahmed El-Sayed El-Masry, Electrical Power Quality Department</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1  |  PROJECT NEED</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cs typeface="Cambria" pitchFamily="34" charset="-120"/>
              </a:rPr>
              <a:t>The problem</a:t>
            </a:r>
            <a:endParaRPr lang="en-US" sz="3200" dirty="0"/>
          </a:p>
        </p:txBody>
      </p:sp>
      <p:sp>
        <p:nvSpPr>
          <p:cNvPr id="5" name="Shape 3"/>
          <p:cNvSpPr/>
          <p:nvPr/>
        </p:nvSpPr>
        <p:spPr>
          <a:xfrm>
            <a:off x="548640" y="1463040"/>
            <a:ext cx="5486400" cy="4206240"/>
          </a:xfrm>
          <a:prstGeom prst="roundRect">
            <a:avLst>
              <a:gd name="adj" fmla="val 1739"/>
            </a:avLst>
          </a:prstGeom>
          <a:solidFill>
            <a:srgbClr val="FBF6EC"/>
          </a:solidFill>
          <a:ln w="12700">
            <a:solidFill>
              <a:srgbClr val="E8DCC0"/>
            </a:solidFill>
            <a:prstDash val="solid"/>
          </a:ln>
        </p:spPr>
        <p:txBody>
          <a:bodyPr/>
          <a:lstStyle/>
          <a:p>
            <a:endParaRPr lang="en-US"/>
          </a:p>
        </p:txBody>
      </p:sp>
      <p:sp>
        <p:nvSpPr>
          <p:cNvPr id="6" name="Text 4"/>
          <p:cNvSpPr txBox="1"/>
          <p:nvPr/>
        </p:nvSpPr>
        <p:spPr>
          <a:xfrm>
            <a:off x="822960" y="1645920"/>
            <a:ext cx="3657600" cy="274320"/>
          </a:xfrm>
          <a:prstGeom prst="rect">
            <a:avLst/>
          </a:prstGeom>
          <a:noFill/>
          <a:ln/>
        </p:spPr>
        <p:txBody>
          <a:bodyPr wrap="square" lIns="0" tIns="0" rIns="0" bIns="0" rtlCol="0" anchor="t"/>
          <a:lstStyle/>
          <a:p>
            <a:pPr marL="0" indent="0">
              <a:buNone/>
            </a:pPr>
            <a:r>
              <a:rPr lang="en-US" sz="1050" b="1" kern="0" spc="300">
                <a:solidFill>
                  <a:srgbClr val="CD9732"/>
                </a:solidFill>
                <a:latin typeface="Calibri" panose="020F0502020204030204" pitchFamily="34" charset="0"/>
                <a:ea typeface="Calibri" pitchFamily="34" charset="-122"/>
                <a:cs typeface="Calibri" pitchFamily="34" charset="-120"/>
              </a:rPr>
              <a:t>PROJECT CONTEXT</a:t>
            </a:r>
            <a:endParaRPr lang="en-US" sz="1050" b="1" dirty="0">
              <a:solidFill>
                <a:srgbClr val="CD9732"/>
              </a:solidFill>
              <a:latin typeface="Calibri" panose="020F0502020204030204" pitchFamily="34" charset="0"/>
            </a:endParaRPr>
          </a:p>
        </p:txBody>
      </p:sp>
      <p:sp>
        <p:nvSpPr>
          <p:cNvPr id="7" name="Text 5"/>
          <p:cNvSpPr txBox="1"/>
          <p:nvPr/>
        </p:nvSpPr>
        <p:spPr>
          <a:xfrm>
            <a:off x="822960" y="2011680"/>
            <a:ext cx="4937760" cy="3474720"/>
          </a:xfrm>
          <a:prstGeom prst="rect">
            <a:avLst/>
          </a:prstGeom>
          <a:noFill/>
          <a:ln/>
        </p:spPr>
        <p:txBody>
          <a:bodyPr wrap="square" lIns="0" tIns="0" rIns="0" bIns="0" rtlCol="0" anchor="t"/>
          <a:lstStyle/>
          <a:p>
            <a:pPr marL="0" indent="0"/>
            <a:r>
              <a:rPr lang="en-US" sz="1500">
                <a:solidFill>
                  <a:srgbClr val="374365"/>
                </a:solidFill>
                <a:latin typeface="Calibri" pitchFamily="34" charset="0"/>
                <a:ea typeface="Calibri" pitchFamily="34" charset="-122"/>
                <a:cs typeface="Calibri" pitchFamily="34" charset="-120"/>
              </a:rPr>
              <a:t>One control session can produce button inputs, device status, telemetry and command results.</a:t>
            </a:r>
          </a:p>
          <a:p>
            <a:pPr marL="0" indent="0"/>
            <a:endParaRPr lang="en-US" sz="1500">
              <a:solidFill>
                <a:srgbClr val="374365"/>
              </a:solidFill>
              <a:latin typeface="Calibri" pitchFamily="34" charset="0"/>
              <a:ea typeface="Calibri" pitchFamily="34" charset="-122"/>
              <a:cs typeface="Calibri" pitchFamily="34" charset="-120"/>
            </a:endParaRPr>
          </a:p>
          <a:p>
            <a:pPr marL="0" indent="0"/>
            <a:r>
              <a:rPr lang="en-US" sz="1500">
                <a:solidFill>
                  <a:srgbClr val="374365"/>
                </a:solidFill>
                <a:latin typeface="Calibri" pitchFamily="34" charset="0"/>
                <a:ea typeface="Calibri" pitchFamily="34" charset="-122"/>
                <a:cs typeface="Calibri" pitchFamily="34" charset="-120"/>
              </a:rPr>
              <a:t>The backend needs to link these records to an authenticated operator and active session.</a:t>
            </a:r>
          </a:p>
          <a:p>
            <a:pPr marL="0" indent="0"/>
            <a:endParaRPr lang="en-US" sz="1500">
              <a:solidFill>
                <a:srgbClr val="374365"/>
              </a:solidFill>
              <a:latin typeface="Calibri" pitchFamily="34" charset="0"/>
              <a:ea typeface="Calibri" pitchFamily="34" charset="-122"/>
              <a:cs typeface="Calibri" pitchFamily="34" charset="-120"/>
            </a:endParaRPr>
          </a:p>
          <a:p>
            <a:pPr marL="0" indent="0"/>
            <a:r>
              <a:rPr lang="en-US" sz="1500">
                <a:solidFill>
                  <a:srgbClr val="374365"/>
                </a:solidFill>
                <a:latin typeface="Calibri" pitchFamily="34" charset="0"/>
                <a:ea typeface="Calibri" pitchFamily="34" charset="-122"/>
                <a:cs typeface="Calibri" pitchFamily="34" charset="-120"/>
              </a:rPr>
              <a:t>That history should be easy to review.</a:t>
            </a:r>
            <a:endParaRPr lang="en-US" sz="1500" dirty="0">
              <a:solidFill>
                <a:srgbClr val="374365"/>
              </a:solidFill>
              <a:latin typeface="Calibri" panose="020F0502020204030204" pitchFamily="34" charset="0"/>
            </a:endParaRPr>
          </a:p>
        </p:txBody>
      </p:sp>
      <p:sp>
        <p:nvSpPr>
          <p:cNvPr id="8" name="Shape 6"/>
          <p:cNvSpPr/>
          <p:nvPr/>
        </p:nvSpPr>
        <p:spPr>
          <a:xfrm>
            <a:off x="6336792" y="1463040"/>
            <a:ext cx="5303520" cy="4206240"/>
          </a:xfrm>
          <a:prstGeom prst="roundRect">
            <a:avLst>
              <a:gd name="adj" fmla="val 1739"/>
            </a:avLst>
          </a:prstGeom>
          <a:solidFill>
            <a:srgbClr val="F7F8FC"/>
          </a:solidFill>
          <a:ln w="12700">
            <a:solidFill>
              <a:srgbClr val="DDE2EE"/>
            </a:solidFill>
            <a:prstDash val="solid"/>
          </a:ln>
        </p:spPr>
        <p:txBody>
          <a:bodyPr/>
          <a:lstStyle/>
          <a:p>
            <a:endParaRPr lang="en-US"/>
          </a:p>
        </p:txBody>
      </p:sp>
      <p:sp>
        <p:nvSpPr>
          <p:cNvPr id="9" name="Text 7"/>
          <p:cNvSpPr txBox="1"/>
          <p:nvPr/>
        </p:nvSpPr>
        <p:spPr>
          <a:xfrm>
            <a:off x="6611112" y="1645920"/>
            <a:ext cx="4572000" cy="274320"/>
          </a:xfrm>
          <a:prstGeom prst="rect">
            <a:avLst/>
          </a:prstGeom>
          <a:noFill/>
          <a:ln/>
        </p:spPr>
        <p:txBody>
          <a:bodyPr wrap="square" lIns="0" tIns="0" rIns="0" bIns="0" rtlCol="0" anchor="t"/>
          <a:lstStyle/>
          <a:p>
            <a:pPr marL="0" indent="0">
              <a:buNone/>
            </a:pPr>
            <a:r>
              <a:rPr lang="en-US" sz="1050" b="1" kern="0" spc="300">
                <a:solidFill>
                  <a:srgbClr val="273363"/>
                </a:solidFill>
                <a:latin typeface="Calibri" panose="020F0502020204030204" pitchFamily="34" charset="0"/>
                <a:ea typeface="Calibri" pitchFamily="34" charset="-122"/>
                <a:cs typeface="Calibri" pitchFamily="34" charset="-120"/>
              </a:rPr>
              <a:t>PROBLEM STATEMENT</a:t>
            </a:r>
            <a:endParaRPr lang="en-US" sz="1050" b="1" dirty="0">
              <a:solidFill>
                <a:srgbClr val="273363"/>
              </a:solidFill>
              <a:latin typeface="Calibri" panose="020F0502020204030204" pitchFamily="34" charset="0"/>
            </a:endParaRPr>
          </a:p>
        </p:txBody>
      </p:sp>
      <p:sp>
        <p:nvSpPr>
          <p:cNvPr id="10" name="Text 8"/>
          <p:cNvSpPr txBox="1"/>
          <p:nvPr/>
        </p:nvSpPr>
        <p:spPr>
          <a:xfrm>
            <a:off x="6611112" y="2011680"/>
            <a:ext cx="4754880" cy="3474720"/>
          </a:xfrm>
          <a:prstGeom prst="rect">
            <a:avLst/>
          </a:prstGeom>
          <a:noFill/>
          <a:ln/>
        </p:spPr>
        <p:txBody>
          <a:bodyPr wrap="square" lIns="0" tIns="0" rIns="0" bIns="0" rtlCol="0" anchor="t"/>
          <a:lstStyle/>
          <a:p>
            <a:pPr marL="0" indent="0"/>
            <a:r>
              <a:rPr lang="en-US" sz="1500">
                <a:solidFill>
                  <a:srgbClr val="374365"/>
                </a:solidFill>
                <a:latin typeface="Calibri" pitchFamily="34" charset="0"/>
                <a:ea typeface="Calibri" pitchFamily="34" charset="-122"/>
                <a:cs typeface="Calibri" pitchFamily="34" charset="-120"/>
              </a:rPr>
              <a:t>The project needs one secure API that accepts validated session events and stores a consistent history for later review.</a:t>
            </a:r>
          </a:p>
          <a:p>
            <a:pPr marL="0" indent="0"/>
            <a:endParaRPr lang="en-US" sz="1500">
              <a:solidFill>
                <a:srgbClr val="374365"/>
              </a:solidFill>
              <a:latin typeface="Calibri" pitchFamily="34" charset="0"/>
              <a:ea typeface="Calibri" pitchFamily="34" charset="-122"/>
              <a:cs typeface="Calibri" pitchFamily="34" charset="-120"/>
            </a:endParaRPr>
          </a:p>
          <a:p>
            <a:pPr marL="0" indent="0"/>
            <a:r>
              <a:rPr lang="en-US" sz="1500">
                <a:solidFill>
                  <a:srgbClr val="374365"/>
                </a:solidFill>
                <a:latin typeface="Calibri" pitchFamily="34" charset="0"/>
                <a:ea typeface="Calibri" pitchFamily="34" charset="-122"/>
                <a:cs typeface="Calibri" pitchFamily="34" charset="-120"/>
              </a:rPr>
              <a:t>The service prepares this data layer for a future connection to the existing control website.</a:t>
            </a:r>
            <a:endParaRPr lang="en-US" sz="1500" dirty="0">
              <a:solidFill>
                <a:srgbClr val="374365"/>
              </a:solidFill>
              <a:latin typeface="Calibri" panose="020F0502020204030204" pitchFamily="34" charset="0"/>
            </a:endParaRPr>
          </a:p>
        </p:txBody>
      </p:sp>
      <p:sp>
        <p:nvSpPr>
          <p:cNvPr id="12" name="Text 1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2  |  SYSTEM ARCHITECTURE</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cs typeface="Cambria" pitchFamily="34" charset="-120"/>
              </a:rPr>
              <a:t>System architecture</a:t>
            </a:r>
            <a:endParaRPr lang="en-US" sz="3200" dirty="0"/>
          </a:p>
        </p:txBody>
      </p:sp>
      <p:sp>
        <p:nvSpPr>
          <p:cNvPr id="5" name="Text 3"/>
          <p:cNvSpPr txBox="1"/>
          <p:nvPr/>
        </p:nvSpPr>
        <p:spPr>
          <a:xfrm>
            <a:off x="548640" y="1325880"/>
            <a:ext cx="11094415" cy="365760"/>
          </a:xfrm>
          <a:prstGeom prst="rect">
            <a:avLst/>
          </a:prstGeom>
          <a:noFill/>
          <a:ln/>
        </p:spPr>
        <p:txBody>
          <a:bodyPr wrap="square" lIns="0" tIns="0" rIns="0" bIns="0" rtlCol="0" anchor="t"/>
          <a:lstStyle/>
          <a:p>
            <a:pPr marL="0" indent="0">
              <a:buNone/>
            </a:pPr>
            <a:r>
              <a:rPr lang="en-US" sz="1350">
                <a:solidFill>
                  <a:srgbClr val="374365"/>
                </a:solidFill>
                <a:latin typeface="Calibri" panose="020F0502020204030204" pitchFamily="34" charset="0"/>
                <a:ea typeface="Calibri" pitchFamily="34" charset="-122"/>
                <a:cs typeface="Calibri" pitchFamily="34" charset="-120"/>
              </a:rPr>
              <a:t>The current service path has a planned client, a protected API, and two data stores</a:t>
            </a:r>
            <a:endParaRPr lang="en-US" sz="1350" dirty="0">
              <a:solidFill>
                <a:srgbClr val="374365"/>
              </a:solidFill>
              <a:latin typeface="Calibri" panose="020F0502020204030204" pitchFamily="34" charset="0"/>
            </a:endParaRPr>
          </a:p>
        </p:txBody>
      </p:sp>
      <p:sp>
        <p:nvSpPr>
          <p:cNvPr id="6" name="Shape 4"/>
          <p:cNvSpPr/>
          <p:nvPr/>
        </p:nvSpPr>
        <p:spPr>
          <a:xfrm>
            <a:off x="548640" y="1920240"/>
            <a:ext cx="3566160" cy="3291840"/>
          </a:xfrm>
          <a:prstGeom prst="roundRect">
            <a:avLst>
              <a:gd name="adj" fmla="val 2222"/>
            </a:avLst>
          </a:prstGeom>
          <a:solidFill>
            <a:srgbClr val="F7F8FC"/>
          </a:solidFill>
          <a:ln w="12700">
            <a:solidFill>
              <a:srgbClr val="DDE2EE"/>
            </a:solidFill>
            <a:prstDash val="solid"/>
          </a:ln>
        </p:spPr>
        <p:txBody>
          <a:bodyPr/>
          <a:lstStyle/>
          <a:p>
            <a:endParaRPr lang="en-US"/>
          </a:p>
        </p:txBody>
      </p:sp>
      <p:sp>
        <p:nvSpPr>
          <p:cNvPr id="7" name="Shape 5"/>
          <p:cNvSpPr/>
          <p:nvPr/>
        </p:nvSpPr>
        <p:spPr>
          <a:xfrm>
            <a:off x="822960" y="2148840"/>
            <a:ext cx="502920" cy="502920"/>
          </a:xfrm>
          <a:prstGeom prst="ellipse">
            <a:avLst/>
          </a:prstGeom>
          <a:solidFill>
            <a:srgbClr val="1E2761"/>
          </a:solidFill>
          <a:ln w="12700">
            <a:solidFill>
              <a:srgbClr val="1E2761"/>
            </a:solidFill>
            <a:prstDash val="solid"/>
          </a:ln>
        </p:spPr>
        <p:txBody>
          <a:bodyPr/>
          <a:lstStyle/>
          <a:p>
            <a:endParaRPr lang="en-US"/>
          </a:p>
        </p:txBody>
      </p:sp>
      <p:sp>
        <p:nvSpPr>
          <p:cNvPr id="8" name="Text 6"/>
          <p:cNvSpPr txBox="1"/>
          <p:nvPr/>
        </p:nvSpPr>
        <p:spPr>
          <a:xfrm>
            <a:off x="822960" y="21488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822960" y="2834640"/>
            <a:ext cx="3017520" cy="822960"/>
          </a:xfrm>
          <a:prstGeom prst="rect">
            <a:avLst/>
          </a:prstGeom>
          <a:noFill/>
          <a:ln/>
        </p:spPr>
        <p:txBody>
          <a:bodyPr wrap="square" lIns="0" tIns="0" rIns="0" bIns="0" rtlCol="0" anchor="t"/>
          <a:lstStyle/>
          <a:p>
            <a:pPr marL="0" indent="0">
              <a:buNone/>
            </a:pPr>
            <a:r>
              <a:rPr lang="en-US" sz="2200" b="1">
                <a:solidFill>
                  <a:srgbClr val="CD9732"/>
                </a:solidFill>
                <a:latin typeface="Calibri" panose="020F0502020204030204" pitchFamily="34" charset="0"/>
                <a:ea typeface="Cambria" pitchFamily="34" charset="-122"/>
                <a:cs typeface="Cambria" pitchFamily="34" charset="-120"/>
              </a:rPr>
              <a:t>CLIENT</a:t>
            </a:r>
            <a:endParaRPr lang="en-US" sz="2200" b="1" dirty="0">
              <a:solidFill>
                <a:srgbClr val="CD9732"/>
              </a:solidFill>
              <a:latin typeface="Calibri" panose="020F0502020204030204" pitchFamily="34" charset="0"/>
            </a:endParaRPr>
          </a:p>
        </p:txBody>
      </p:sp>
      <p:sp>
        <p:nvSpPr>
          <p:cNvPr id="10" name="Text 8"/>
          <p:cNvSpPr txBox="1"/>
          <p:nvPr/>
        </p:nvSpPr>
        <p:spPr>
          <a:xfrm>
            <a:off x="822960" y="3749040"/>
            <a:ext cx="3017520" cy="1188720"/>
          </a:xfrm>
          <a:prstGeom prst="rect">
            <a:avLst/>
          </a:prstGeom>
          <a:noFill/>
          <a:ln/>
        </p:spPr>
        <p:txBody>
          <a:bodyPr wrap="square" lIns="0" tIns="0" rIns="0" bIns="0" rtlCol="0" anchor="t"/>
          <a:lstStyle/>
          <a:p>
            <a:pPr marL="0" indent="0"/>
            <a:r>
              <a:rPr lang="en-US" sz="1320">
                <a:solidFill>
                  <a:srgbClr val="374365"/>
                </a:solidFill>
                <a:latin typeface="Calibri" panose="020F0502020204030204" pitchFamily="34" charset="0"/>
                <a:ea typeface="Calibri" pitchFamily="34" charset="-122"/>
                <a:cs typeface="Calibri" pitchFamily="34" charset="-120"/>
              </a:rPr>
              <a:t>Planned client: the existing control website. It is not connected to this backend yet.</a:t>
            </a:r>
            <a:endParaRPr lang="en-US" sz="1320" dirty="0">
              <a:solidFill>
                <a:srgbClr val="374365"/>
              </a:solidFill>
              <a:latin typeface="Calibri" panose="020F0502020204030204" pitchFamily="34" charset="0"/>
            </a:endParaRPr>
          </a:p>
        </p:txBody>
      </p:sp>
      <p:sp>
        <p:nvSpPr>
          <p:cNvPr id="11" name="Shape 9"/>
          <p:cNvSpPr/>
          <p:nvPr/>
        </p:nvSpPr>
        <p:spPr>
          <a:xfrm>
            <a:off x="4297680" y="1920240"/>
            <a:ext cx="3566160" cy="3291840"/>
          </a:xfrm>
          <a:prstGeom prst="roundRect">
            <a:avLst>
              <a:gd name="adj" fmla="val 2222"/>
            </a:avLst>
          </a:prstGeom>
          <a:solidFill>
            <a:srgbClr val="F7F8FC"/>
          </a:solidFill>
          <a:ln w="12700">
            <a:solidFill>
              <a:srgbClr val="DDE2EE"/>
            </a:solidFill>
            <a:prstDash val="solid"/>
          </a:ln>
        </p:spPr>
        <p:txBody>
          <a:bodyPr/>
          <a:lstStyle/>
          <a:p>
            <a:endParaRPr lang="en-US"/>
          </a:p>
        </p:txBody>
      </p:sp>
      <p:sp>
        <p:nvSpPr>
          <p:cNvPr id="12" name="Shape 10"/>
          <p:cNvSpPr/>
          <p:nvPr/>
        </p:nvSpPr>
        <p:spPr>
          <a:xfrm>
            <a:off x="4572000" y="2148840"/>
            <a:ext cx="502920" cy="502920"/>
          </a:xfrm>
          <a:prstGeom prst="ellipse">
            <a:avLst/>
          </a:prstGeom>
          <a:solidFill>
            <a:srgbClr val="1E2761"/>
          </a:solidFill>
          <a:ln w="12700">
            <a:solidFill>
              <a:srgbClr val="1E2761"/>
            </a:solidFill>
            <a:prstDash val="solid"/>
          </a:ln>
        </p:spPr>
        <p:txBody>
          <a:bodyPr/>
          <a:lstStyle/>
          <a:p>
            <a:endParaRPr lang="en-US"/>
          </a:p>
        </p:txBody>
      </p:sp>
      <p:sp>
        <p:nvSpPr>
          <p:cNvPr id="13" name="Text 11"/>
          <p:cNvSpPr txBox="1"/>
          <p:nvPr/>
        </p:nvSpPr>
        <p:spPr>
          <a:xfrm>
            <a:off x="4572000" y="21488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4572000" y="2834640"/>
            <a:ext cx="3017520" cy="822960"/>
          </a:xfrm>
          <a:prstGeom prst="rect">
            <a:avLst/>
          </a:prstGeom>
          <a:noFill/>
          <a:ln/>
        </p:spPr>
        <p:txBody>
          <a:bodyPr wrap="square" lIns="0" tIns="0" rIns="0" bIns="0" rtlCol="0" anchor="t"/>
          <a:lstStyle/>
          <a:p>
            <a:pPr marL="0" indent="0">
              <a:buNone/>
            </a:pPr>
            <a:r>
              <a:rPr lang="en-US" sz="2200" b="1">
                <a:solidFill>
                  <a:srgbClr val="CD9732"/>
                </a:solidFill>
                <a:latin typeface="Calibri" panose="020F0502020204030204" pitchFamily="34" charset="0"/>
                <a:ea typeface="Cambria" pitchFamily="34" charset="-122"/>
                <a:cs typeface="Cambria" pitchFamily="34" charset="-120"/>
              </a:rPr>
              <a:t>API</a:t>
            </a:r>
            <a:endParaRPr lang="en-US" sz="2200" b="1" dirty="0">
              <a:solidFill>
                <a:srgbClr val="CD9732"/>
              </a:solidFill>
              <a:latin typeface="Calibri" panose="020F0502020204030204" pitchFamily="34" charset="0"/>
            </a:endParaRPr>
          </a:p>
        </p:txBody>
      </p:sp>
      <p:sp>
        <p:nvSpPr>
          <p:cNvPr id="15" name="Text 13"/>
          <p:cNvSpPr txBox="1"/>
          <p:nvPr/>
        </p:nvSpPr>
        <p:spPr>
          <a:xfrm>
            <a:off x="4572000" y="3749040"/>
            <a:ext cx="3017520" cy="1188720"/>
          </a:xfrm>
          <a:prstGeom prst="rect">
            <a:avLst/>
          </a:prstGeom>
          <a:noFill/>
          <a:ln/>
        </p:spPr>
        <p:txBody>
          <a:bodyPr wrap="square" lIns="0" tIns="0" rIns="0" bIns="0" rtlCol="0" anchor="t"/>
          <a:lstStyle/>
          <a:p>
            <a:pPr marL="0" indent="0"/>
            <a:r>
              <a:rPr lang="en-US" sz="1320">
                <a:solidFill>
                  <a:srgbClr val="374365"/>
                </a:solidFill>
                <a:latin typeface="Calibri" panose="020F0502020204030204" pitchFamily="34" charset="0"/>
                <a:ea typeface="Calibri" pitchFamily="34" charset="-122"/>
                <a:cs typeface="Calibri" pitchFamily="34" charset="-120"/>
              </a:rPr>
              <a:t>Node.js and Express handle REST and authenticated WebSocket traffic. JWT identifies the operator; Zod validates requests.</a:t>
            </a:r>
            <a:endParaRPr lang="en-US" sz="1320" dirty="0">
              <a:solidFill>
                <a:srgbClr val="374365"/>
              </a:solidFill>
              <a:latin typeface="Calibri" panose="020F0502020204030204" pitchFamily="34" charset="0"/>
            </a:endParaRPr>
          </a:p>
        </p:txBody>
      </p:sp>
      <p:sp>
        <p:nvSpPr>
          <p:cNvPr id="16" name="Shape 14"/>
          <p:cNvSpPr/>
          <p:nvPr/>
        </p:nvSpPr>
        <p:spPr>
          <a:xfrm>
            <a:off x="8046720" y="1920240"/>
            <a:ext cx="3566160" cy="3291840"/>
          </a:xfrm>
          <a:prstGeom prst="roundRect">
            <a:avLst>
              <a:gd name="adj" fmla="val 2222"/>
            </a:avLst>
          </a:prstGeom>
          <a:solidFill>
            <a:srgbClr val="F7F8FC"/>
          </a:solidFill>
          <a:ln w="12700">
            <a:solidFill>
              <a:srgbClr val="DDE2EE"/>
            </a:solidFill>
            <a:prstDash val="solid"/>
          </a:ln>
        </p:spPr>
        <p:txBody>
          <a:bodyPr/>
          <a:lstStyle/>
          <a:p>
            <a:endParaRPr lang="en-US"/>
          </a:p>
        </p:txBody>
      </p:sp>
      <p:sp>
        <p:nvSpPr>
          <p:cNvPr id="17" name="Shape 15"/>
          <p:cNvSpPr/>
          <p:nvPr/>
        </p:nvSpPr>
        <p:spPr>
          <a:xfrm>
            <a:off x="8321040" y="2148840"/>
            <a:ext cx="502920" cy="502920"/>
          </a:xfrm>
          <a:prstGeom prst="ellipse">
            <a:avLst/>
          </a:prstGeom>
          <a:solidFill>
            <a:srgbClr val="1E2761"/>
          </a:solidFill>
          <a:ln w="12700">
            <a:solidFill>
              <a:srgbClr val="1E2761"/>
            </a:solidFill>
            <a:prstDash val="solid"/>
          </a:ln>
        </p:spPr>
        <p:txBody>
          <a:bodyPr/>
          <a:lstStyle/>
          <a:p>
            <a:endParaRPr lang="en-US"/>
          </a:p>
        </p:txBody>
      </p:sp>
      <p:sp>
        <p:nvSpPr>
          <p:cNvPr id="18" name="Text 16"/>
          <p:cNvSpPr txBox="1"/>
          <p:nvPr/>
        </p:nvSpPr>
        <p:spPr>
          <a:xfrm>
            <a:off x="8321040" y="21488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321040" y="2834640"/>
            <a:ext cx="3017520" cy="822960"/>
          </a:xfrm>
          <a:prstGeom prst="rect">
            <a:avLst/>
          </a:prstGeom>
          <a:noFill/>
          <a:ln/>
        </p:spPr>
        <p:txBody>
          <a:bodyPr wrap="square" lIns="0" tIns="0" rIns="0" bIns="0" rtlCol="0" anchor="t"/>
          <a:lstStyle/>
          <a:p>
            <a:pPr marL="0" indent="0">
              <a:buNone/>
            </a:pPr>
            <a:r>
              <a:rPr lang="en-US" sz="2200" b="1">
                <a:solidFill>
                  <a:srgbClr val="CD9732"/>
                </a:solidFill>
                <a:latin typeface="Calibri" panose="020F0502020204030204" pitchFamily="34" charset="0"/>
                <a:ea typeface="Cambria" pitchFamily="34" charset="-122"/>
                <a:cs typeface="Cambria" pitchFamily="34" charset="-120"/>
              </a:rPr>
              <a:t>DATA STORES</a:t>
            </a:r>
            <a:endParaRPr lang="en-US" sz="2200" b="1" dirty="0">
              <a:solidFill>
                <a:srgbClr val="CD9732"/>
              </a:solidFill>
              <a:latin typeface="Calibri" panose="020F0502020204030204" pitchFamily="34" charset="0"/>
            </a:endParaRPr>
          </a:p>
        </p:txBody>
      </p:sp>
      <p:sp>
        <p:nvSpPr>
          <p:cNvPr id="20" name="Text 18"/>
          <p:cNvSpPr txBox="1"/>
          <p:nvPr/>
        </p:nvSpPr>
        <p:spPr>
          <a:xfrm>
            <a:off x="8321040" y="3749040"/>
            <a:ext cx="3017520" cy="1188720"/>
          </a:xfrm>
          <a:prstGeom prst="rect">
            <a:avLst/>
          </a:prstGeom>
          <a:noFill/>
          <a:ln/>
        </p:spPr>
        <p:txBody>
          <a:bodyPr wrap="square" lIns="0" tIns="0" rIns="0" bIns="0" rtlCol="0" anchor="t"/>
          <a:lstStyle/>
          <a:p>
            <a:pPr marL="0" indent="0"/>
            <a:r>
              <a:rPr lang="en-US" sz="1320">
                <a:solidFill>
                  <a:srgbClr val="374365"/>
                </a:solidFill>
                <a:latin typeface="Calibri" panose="020F0502020204030204" pitchFamily="34" charset="0"/>
                <a:ea typeface="Calibri" pitchFamily="34" charset="-122"/>
                <a:cs typeface="Calibri" pitchFamily="34" charset="-120"/>
              </a:rPr>
              <a:t>PostgreSQL stores users and sessions. MongoDB stores session event history.</a:t>
            </a:r>
            <a:endParaRPr lang="en-US" sz="1320" dirty="0">
              <a:solidFill>
                <a:srgbClr val="374365"/>
              </a:solidFill>
              <a:latin typeface="Calibri" panose="020F0502020204030204" pitchFamily="34" charset="0"/>
            </a:endParaRPr>
          </a:p>
        </p:txBody>
      </p:sp>
      <p:sp>
        <p:nvSpPr>
          <p:cNvPr id="21" name="Text 19"/>
          <p:cNvSpPr txBox="1"/>
          <p:nvPr/>
        </p:nvSpPr>
        <p:spPr>
          <a:xfrm>
            <a:off x="548640" y="5486400"/>
            <a:ext cx="11094415" cy="457200"/>
          </a:xfrm>
          <a:prstGeom prst="rect">
            <a:avLst/>
          </a:prstGeom>
          <a:noFill/>
          <a:ln/>
        </p:spPr>
        <p:txBody>
          <a:bodyPr wrap="square" lIns="0" tIns="0" rIns="0" bIns="0" rtlCol="0" anchor="t"/>
          <a:lstStyle/>
          <a:p>
            <a:pPr marL="0" indent="0"/>
            <a:r>
              <a:rPr lang="en-US" sz="1250">
                <a:solidFill>
                  <a:srgbClr val="374365"/>
                </a:solidFill>
                <a:latin typeface="Calibri" panose="020F0502020204030204" pitchFamily="34" charset="0"/>
                <a:ea typeface="Calibri" pitchFamily="34" charset="-122"/>
                <a:cs typeface="Calibri" pitchFamily="34" charset="-120"/>
              </a:rPr>
              <a:t>Current scope: store and review events. The API does not send robot or motor commands.</a:t>
            </a:r>
            <a:endParaRPr lang="en-US" sz="1250" dirty="0">
              <a:solidFill>
                <a:srgbClr val="374365"/>
              </a:solidFill>
              <a:latin typeface="Calibri" panose="020F0502020204030204" pitchFamily="34" charset="0"/>
            </a:endParaRPr>
          </a:p>
        </p:txBody>
      </p:sp>
      <p:sp>
        <p:nvSpPr>
          <p:cNvPr id="23" name="Text 21"/>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3</a:t>
            </a:r>
            <a:endParaRPr lang="en-US" sz="900" dirty="0"/>
          </a:p>
        </p:txBody>
      </p:sp>
    </p:spTree>
    <p:extLst>
      <p:ext uri="{BB962C8B-B14F-4D97-AF65-F5344CB8AC3E}">
        <p14:creationId xmlns:p14="http://schemas.microsoft.com/office/powerpoint/2010/main" val="2970558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3  |  VERIFICATION EVIDENCE</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cs typeface="Cambria" pitchFamily="34" charset="-120"/>
              </a:rPr>
              <a:t>Implementation evidence</a:t>
            </a:r>
            <a:endParaRPr lang="en-US" sz="3200" dirty="0"/>
          </a:p>
        </p:txBody>
      </p:sp>
      <p:sp>
        <p:nvSpPr>
          <p:cNvPr id="5" name="Text 3"/>
          <p:cNvSpPr txBox="1"/>
          <p:nvPr/>
        </p:nvSpPr>
        <p:spPr>
          <a:xfrm>
            <a:off x="548640" y="1325880"/>
            <a:ext cx="11094415" cy="365760"/>
          </a:xfrm>
          <a:prstGeom prst="rect">
            <a:avLst/>
          </a:prstGeom>
          <a:noFill/>
          <a:ln/>
        </p:spPr>
        <p:txBody>
          <a:bodyPr wrap="square" lIns="0" tIns="0" rIns="0" bIns="0" rtlCol="0" anchor="t"/>
          <a:lstStyle/>
          <a:p>
            <a:pPr marL="0" indent="0">
              <a:buNone/>
            </a:pPr>
            <a:r>
              <a:rPr lang="en-US" sz="1350">
                <a:solidFill>
                  <a:srgbClr val="374365"/>
                </a:solidFill>
                <a:latin typeface="Calibri" panose="020F0502020204030204" pitchFamily="34" charset="0"/>
                <a:ea typeface="Calibri" pitchFamily="34" charset="-122"/>
                <a:cs typeface="Calibri" pitchFamily="34" charset="-120"/>
              </a:rPr>
              <a:t>Local checks recorded in the project report; live API checks run on 24 October 2026</a:t>
            </a:r>
            <a:endParaRPr lang="en-US" sz="1350" dirty="0">
              <a:solidFill>
                <a:srgbClr val="374365"/>
              </a:solidFill>
              <a:latin typeface="Calibri" panose="020F0502020204030204" pitchFamily="34" charset="0"/>
            </a:endParaRPr>
          </a:p>
        </p:txBody>
      </p:sp>
      <p:sp>
        <p:nvSpPr>
          <p:cNvPr id="6" name="Shape 4"/>
          <p:cNvSpPr/>
          <p:nvPr/>
        </p:nvSpPr>
        <p:spPr>
          <a:xfrm>
            <a:off x="548640" y="1920240"/>
            <a:ext cx="3566160" cy="3291840"/>
          </a:xfrm>
          <a:prstGeom prst="roundRect">
            <a:avLst>
              <a:gd name="adj" fmla="val 2222"/>
            </a:avLst>
          </a:prstGeom>
          <a:solidFill>
            <a:srgbClr val="F7F8FC"/>
          </a:solidFill>
          <a:ln w="12700">
            <a:solidFill>
              <a:srgbClr val="DDE2EE"/>
            </a:solidFill>
            <a:prstDash val="solid"/>
          </a:ln>
        </p:spPr>
        <p:txBody>
          <a:bodyPr/>
          <a:lstStyle/>
          <a:p>
            <a:endParaRPr lang="en-US"/>
          </a:p>
        </p:txBody>
      </p:sp>
      <p:sp>
        <p:nvSpPr>
          <p:cNvPr id="7" name="Shape 5"/>
          <p:cNvSpPr/>
          <p:nvPr/>
        </p:nvSpPr>
        <p:spPr>
          <a:xfrm>
            <a:off x="822960" y="2148840"/>
            <a:ext cx="502920" cy="502920"/>
          </a:xfrm>
          <a:prstGeom prst="ellipse">
            <a:avLst/>
          </a:prstGeom>
          <a:solidFill>
            <a:srgbClr val="1E2761"/>
          </a:solidFill>
          <a:ln w="12700">
            <a:solidFill>
              <a:srgbClr val="1E2761"/>
            </a:solidFill>
            <a:prstDash val="solid"/>
          </a:ln>
        </p:spPr>
        <p:txBody>
          <a:bodyPr/>
          <a:lstStyle/>
          <a:p>
            <a:endParaRPr lang="en-US"/>
          </a:p>
        </p:txBody>
      </p:sp>
      <p:sp>
        <p:nvSpPr>
          <p:cNvPr id="8" name="Text 6"/>
          <p:cNvSpPr txBox="1"/>
          <p:nvPr/>
        </p:nvSpPr>
        <p:spPr>
          <a:xfrm>
            <a:off x="822960" y="21488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822960" y="2834640"/>
            <a:ext cx="3017520" cy="822960"/>
          </a:xfrm>
          <a:prstGeom prst="rect">
            <a:avLst/>
          </a:prstGeom>
          <a:noFill/>
          <a:ln/>
        </p:spPr>
        <p:txBody>
          <a:bodyPr wrap="square" lIns="0" tIns="0" rIns="0" bIns="0" rtlCol="0" anchor="t"/>
          <a:lstStyle/>
          <a:p>
            <a:pPr marL="0" indent="0">
              <a:buNone/>
            </a:pPr>
            <a:r>
              <a:rPr lang="en-US" sz="4000" b="1">
                <a:solidFill>
                  <a:srgbClr val="CD9732"/>
                </a:solidFill>
                <a:latin typeface="Cambria" panose="02040503050406030204" pitchFamily="18" charset="0"/>
                <a:ea typeface="Cambria" pitchFamily="34" charset="-122"/>
                <a:cs typeface="Cambria" pitchFamily="34" charset="-120"/>
              </a:rPr>
              <a:t>11</a:t>
            </a:r>
            <a:endParaRPr lang="en-US" sz="4000" b="1" dirty="0">
              <a:solidFill>
                <a:srgbClr val="CD9732"/>
              </a:solidFill>
              <a:latin typeface="Cambria" panose="02040503050406030204" pitchFamily="18" charset="0"/>
            </a:endParaRPr>
          </a:p>
        </p:txBody>
      </p:sp>
      <p:sp>
        <p:nvSpPr>
          <p:cNvPr id="10" name="Text 8"/>
          <p:cNvSpPr txBox="1"/>
          <p:nvPr/>
        </p:nvSpPr>
        <p:spPr>
          <a:xfrm>
            <a:off x="822960" y="3749040"/>
            <a:ext cx="3017520" cy="1188720"/>
          </a:xfrm>
          <a:prstGeom prst="rect">
            <a:avLst/>
          </a:prstGeom>
          <a:noFill/>
          <a:ln/>
        </p:spPr>
        <p:txBody>
          <a:bodyPr wrap="square" lIns="0" tIns="0" rIns="0" bIns="0" rtlCol="0" anchor="t"/>
          <a:lstStyle/>
          <a:p>
            <a:pPr marL="0" indent="0"/>
            <a:r>
              <a:rPr lang="en-US" sz="1320">
                <a:solidFill>
                  <a:srgbClr val="374365"/>
                </a:solidFill>
                <a:latin typeface="Calibri" panose="020F0502020204030204" pitchFamily="34" charset="0"/>
                <a:ea typeface="Calibri" pitchFamily="34" charset="-122"/>
                <a:cs typeface="Calibri" pitchFamily="34" charset="-120"/>
              </a:rPr>
              <a:t>Automated tests passed; repositories are mocked, with a local WebSocket test.</a:t>
            </a:r>
            <a:endParaRPr lang="en-US" sz="1320" dirty="0">
              <a:solidFill>
                <a:srgbClr val="374365"/>
              </a:solidFill>
              <a:latin typeface="Calibri" panose="020F0502020204030204" pitchFamily="34" charset="0"/>
            </a:endParaRPr>
          </a:p>
        </p:txBody>
      </p:sp>
      <p:sp>
        <p:nvSpPr>
          <p:cNvPr id="11" name="Shape 9"/>
          <p:cNvSpPr/>
          <p:nvPr/>
        </p:nvSpPr>
        <p:spPr>
          <a:xfrm>
            <a:off x="4297680" y="1920240"/>
            <a:ext cx="3566160" cy="3291840"/>
          </a:xfrm>
          <a:prstGeom prst="roundRect">
            <a:avLst>
              <a:gd name="adj" fmla="val 2222"/>
            </a:avLst>
          </a:prstGeom>
          <a:solidFill>
            <a:srgbClr val="F7F8FC"/>
          </a:solidFill>
          <a:ln w="12700">
            <a:solidFill>
              <a:srgbClr val="DDE2EE"/>
            </a:solidFill>
            <a:prstDash val="solid"/>
          </a:ln>
        </p:spPr>
        <p:txBody>
          <a:bodyPr/>
          <a:lstStyle/>
          <a:p>
            <a:endParaRPr lang="en-US"/>
          </a:p>
        </p:txBody>
      </p:sp>
      <p:sp>
        <p:nvSpPr>
          <p:cNvPr id="12" name="Shape 10"/>
          <p:cNvSpPr/>
          <p:nvPr/>
        </p:nvSpPr>
        <p:spPr>
          <a:xfrm>
            <a:off x="4572000" y="2148840"/>
            <a:ext cx="502920" cy="502920"/>
          </a:xfrm>
          <a:prstGeom prst="ellipse">
            <a:avLst/>
          </a:prstGeom>
          <a:solidFill>
            <a:srgbClr val="1E2761"/>
          </a:solidFill>
          <a:ln w="12700">
            <a:solidFill>
              <a:srgbClr val="1E2761"/>
            </a:solidFill>
            <a:prstDash val="solid"/>
          </a:ln>
        </p:spPr>
        <p:txBody>
          <a:bodyPr/>
          <a:lstStyle/>
          <a:p>
            <a:endParaRPr lang="en-US"/>
          </a:p>
        </p:txBody>
      </p:sp>
      <p:sp>
        <p:nvSpPr>
          <p:cNvPr id="13" name="Text 11"/>
          <p:cNvSpPr txBox="1"/>
          <p:nvPr/>
        </p:nvSpPr>
        <p:spPr>
          <a:xfrm>
            <a:off x="4572000" y="21488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4572000" y="2834640"/>
            <a:ext cx="3017520" cy="822960"/>
          </a:xfrm>
          <a:prstGeom prst="rect">
            <a:avLst/>
          </a:prstGeom>
          <a:noFill/>
          <a:ln/>
        </p:spPr>
        <p:txBody>
          <a:bodyPr wrap="square" lIns="0" tIns="0" rIns="0" bIns="0" rtlCol="0" anchor="t"/>
          <a:lstStyle/>
          <a:p>
            <a:pPr marL="0" indent="0">
              <a:buNone/>
            </a:pPr>
            <a:r>
              <a:rPr lang="en-US" sz="4000" b="1">
                <a:solidFill>
                  <a:srgbClr val="CD9732"/>
                </a:solidFill>
                <a:latin typeface="Cambria" panose="02040503050406030204" pitchFamily="18" charset="0"/>
                <a:ea typeface="Cambria" pitchFamily="34" charset="-122"/>
                <a:cs typeface="Cambria" pitchFamily="34" charset="-120"/>
              </a:rPr>
              <a:t>44</a:t>
            </a:r>
            <a:endParaRPr lang="en-US" sz="4000" b="1" dirty="0">
              <a:solidFill>
                <a:srgbClr val="CD9732"/>
              </a:solidFill>
              <a:latin typeface="Cambria" panose="02040503050406030204" pitchFamily="18" charset="0"/>
            </a:endParaRPr>
          </a:p>
        </p:txBody>
      </p:sp>
      <p:sp>
        <p:nvSpPr>
          <p:cNvPr id="15" name="Text 13"/>
          <p:cNvSpPr txBox="1"/>
          <p:nvPr/>
        </p:nvSpPr>
        <p:spPr>
          <a:xfrm>
            <a:off x="4572000" y="3749040"/>
            <a:ext cx="3017520" cy="1188720"/>
          </a:xfrm>
          <a:prstGeom prst="rect">
            <a:avLst/>
          </a:prstGeom>
          <a:noFill/>
          <a:ln/>
        </p:spPr>
        <p:txBody>
          <a:bodyPr wrap="square" lIns="0" tIns="0" rIns="0" bIns="0" rtlCol="0" anchor="t"/>
          <a:lstStyle/>
          <a:p>
            <a:pPr marL="0" indent="0"/>
            <a:r>
              <a:rPr lang="en-US" sz="1320">
                <a:solidFill>
                  <a:srgbClr val="374365"/>
                </a:solidFill>
                <a:latin typeface="Calibri" panose="020F0502020204030204" pitchFamily="34" charset="0"/>
                <a:ea typeface="Calibri" pitchFamily="34" charset="-122"/>
                <a:cs typeface="Calibri" pitchFamily="34" charset="-120"/>
              </a:rPr>
              <a:t>JavaScript files parsed by npm run check.</a:t>
            </a:r>
            <a:endParaRPr lang="en-US" sz="1320" dirty="0">
              <a:solidFill>
                <a:srgbClr val="374365"/>
              </a:solidFill>
              <a:latin typeface="Calibri" panose="020F0502020204030204" pitchFamily="34" charset="0"/>
            </a:endParaRPr>
          </a:p>
        </p:txBody>
      </p:sp>
      <p:sp>
        <p:nvSpPr>
          <p:cNvPr id="16" name="Shape 14"/>
          <p:cNvSpPr/>
          <p:nvPr/>
        </p:nvSpPr>
        <p:spPr>
          <a:xfrm>
            <a:off x="8046720" y="1920240"/>
            <a:ext cx="3566160" cy="3291840"/>
          </a:xfrm>
          <a:prstGeom prst="roundRect">
            <a:avLst>
              <a:gd name="adj" fmla="val 2222"/>
            </a:avLst>
          </a:prstGeom>
          <a:solidFill>
            <a:srgbClr val="F7F8FC"/>
          </a:solidFill>
          <a:ln w="12700">
            <a:solidFill>
              <a:srgbClr val="DDE2EE"/>
            </a:solidFill>
            <a:prstDash val="solid"/>
          </a:ln>
        </p:spPr>
        <p:txBody>
          <a:bodyPr/>
          <a:lstStyle/>
          <a:p>
            <a:endParaRPr lang="en-US"/>
          </a:p>
        </p:txBody>
      </p:sp>
      <p:sp>
        <p:nvSpPr>
          <p:cNvPr id="17" name="Shape 15"/>
          <p:cNvSpPr/>
          <p:nvPr/>
        </p:nvSpPr>
        <p:spPr>
          <a:xfrm>
            <a:off x="8321040" y="2148840"/>
            <a:ext cx="502920" cy="502920"/>
          </a:xfrm>
          <a:prstGeom prst="ellipse">
            <a:avLst/>
          </a:prstGeom>
          <a:solidFill>
            <a:srgbClr val="1E2761"/>
          </a:solidFill>
          <a:ln w="12700">
            <a:solidFill>
              <a:srgbClr val="1E2761"/>
            </a:solidFill>
            <a:prstDash val="solid"/>
          </a:ln>
        </p:spPr>
        <p:txBody>
          <a:bodyPr/>
          <a:lstStyle/>
          <a:p>
            <a:endParaRPr lang="en-US"/>
          </a:p>
        </p:txBody>
      </p:sp>
      <p:sp>
        <p:nvSpPr>
          <p:cNvPr id="18" name="Text 16"/>
          <p:cNvSpPr txBox="1"/>
          <p:nvPr/>
        </p:nvSpPr>
        <p:spPr>
          <a:xfrm>
            <a:off x="8321040" y="21488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321040" y="2834640"/>
            <a:ext cx="3017520" cy="822960"/>
          </a:xfrm>
          <a:prstGeom prst="rect">
            <a:avLst/>
          </a:prstGeom>
          <a:noFill/>
          <a:ln/>
        </p:spPr>
        <p:txBody>
          <a:bodyPr wrap="square" lIns="0" tIns="0" rIns="0" bIns="0" rtlCol="0" anchor="t"/>
          <a:lstStyle/>
          <a:p>
            <a:pPr marL="0" indent="0">
              <a:buNone/>
            </a:pPr>
            <a:r>
              <a:rPr lang="en-US" sz="3800" b="1">
                <a:solidFill>
                  <a:srgbClr val="CD9732"/>
                </a:solidFill>
                <a:latin typeface="Cambria" panose="02040503050406030204" pitchFamily="18" charset="0"/>
                <a:ea typeface="Cambria" pitchFamily="34" charset="-122"/>
                <a:cs typeface="Cambria" pitchFamily="34" charset="-120"/>
              </a:rPr>
              <a:t>200</a:t>
            </a:r>
            <a:endParaRPr lang="en-US" sz="3800" b="1" dirty="0">
              <a:solidFill>
                <a:srgbClr val="CD9732"/>
              </a:solidFill>
              <a:latin typeface="Cambria" panose="02040503050406030204" pitchFamily="18" charset="0"/>
            </a:endParaRPr>
          </a:p>
        </p:txBody>
      </p:sp>
      <p:sp>
        <p:nvSpPr>
          <p:cNvPr id="20" name="Text 18"/>
          <p:cNvSpPr txBox="1"/>
          <p:nvPr/>
        </p:nvSpPr>
        <p:spPr>
          <a:xfrm>
            <a:off x="8321040" y="3749040"/>
            <a:ext cx="3017520" cy="1188720"/>
          </a:xfrm>
          <a:prstGeom prst="rect">
            <a:avLst/>
          </a:prstGeom>
          <a:noFill/>
          <a:ln/>
        </p:spPr>
        <p:txBody>
          <a:bodyPr wrap="square" lIns="0" tIns="0" rIns="0" bIns="0" rtlCol="0" anchor="t"/>
          <a:lstStyle/>
          <a:p>
            <a:pPr marL="0" indent="0"/>
            <a:r>
              <a:rPr lang="en-US" sz="1320">
                <a:solidFill>
                  <a:srgbClr val="374365"/>
                </a:solidFill>
                <a:latin typeface="Calibri" panose="020F0502020204030204" pitchFamily="34" charset="0"/>
                <a:ea typeface="Calibri" pitchFamily="34" charset="-122"/>
                <a:cs typeface="Calibri" pitchFamily="34" charset="-120"/>
              </a:rPr>
              <a:t>Live readiness returned HTTP 200. PostgreSQL and MongoDB both reported up.</a:t>
            </a:r>
            <a:endParaRPr lang="en-US" sz="1320" dirty="0">
              <a:solidFill>
                <a:srgbClr val="374365"/>
              </a:solidFill>
              <a:latin typeface="Calibri" panose="020F0502020204030204" pitchFamily="34" charset="0"/>
            </a:endParaRPr>
          </a:p>
        </p:txBody>
      </p:sp>
      <p:sp>
        <p:nvSpPr>
          <p:cNvPr id="21" name="Text 19"/>
          <p:cNvSpPr txBox="1"/>
          <p:nvPr/>
        </p:nvSpPr>
        <p:spPr>
          <a:xfrm>
            <a:off x="548640" y="5486400"/>
            <a:ext cx="11094415" cy="457200"/>
          </a:xfrm>
          <a:prstGeom prst="rect">
            <a:avLst/>
          </a:prstGeom>
          <a:noFill/>
          <a:ln/>
        </p:spPr>
        <p:txBody>
          <a:bodyPr wrap="square" lIns="0" tIns="0" rIns="0" bIns="0" rtlCol="0" anchor="t"/>
          <a:lstStyle/>
          <a:p>
            <a:pPr marL="0" indent="0"/>
            <a:r>
              <a:rPr lang="en-US" sz="1250">
                <a:solidFill>
                  <a:srgbClr val="374365"/>
                </a:solidFill>
                <a:latin typeface="Calibri" panose="020F0502020204030204" pitchFamily="34" charset="0"/>
                <a:ea typeface="Calibri" pitchFamily="34" charset="-122"/>
                <a:cs typeface="Calibri" pitchFamily="34" charset="-120"/>
              </a:rPr>
              <a:t>Postman lint reported 0 errors and 0 warnings. PostgreSQL migration and smoke checks passed.</a:t>
            </a:r>
            <a:endParaRPr lang="en-US" sz="1250" dirty="0">
              <a:solidFill>
                <a:srgbClr val="374365"/>
              </a:solidFill>
              <a:latin typeface="Calibri" panose="020F0502020204030204" pitchFamily="34" charset="0"/>
            </a:endParaRPr>
          </a:p>
        </p:txBody>
      </p:sp>
      <p:sp>
        <p:nvSpPr>
          <p:cNvPr id="23" name="Text 21"/>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4  |  API DESIGN</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cs typeface="Cambria" pitchFamily="34" charset="-120"/>
              </a:rPr>
              <a:t>How the backend works</a:t>
            </a:r>
            <a:endParaRPr lang="en-US" sz="3200" dirty="0"/>
          </a:p>
        </p:txBody>
      </p:sp>
      <p:sp>
        <p:nvSpPr>
          <p:cNvPr id="5" name="Shape 3"/>
          <p:cNvSpPr/>
          <p:nvPr/>
        </p:nvSpPr>
        <p:spPr>
          <a:xfrm>
            <a:off x="548640" y="1463040"/>
            <a:ext cx="6766560" cy="4206240"/>
          </a:xfrm>
          <a:prstGeom prst="roundRect">
            <a:avLst>
              <a:gd name="adj" fmla="val 1739"/>
            </a:avLst>
          </a:prstGeom>
          <a:solidFill>
            <a:srgbClr val="F7F8FC"/>
          </a:solidFill>
          <a:ln w="12700">
            <a:solidFill>
              <a:srgbClr val="DDE2EE"/>
            </a:solidFill>
            <a:prstDash val="solid"/>
          </a:ln>
        </p:spPr>
        <p:txBody>
          <a:bodyPr/>
          <a:lstStyle/>
          <a:p>
            <a:endParaRPr lang="en-US"/>
          </a:p>
        </p:txBody>
      </p:sp>
      <p:sp>
        <p:nvSpPr>
          <p:cNvPr id="6" name="Text 4"/>
          <p:cNvSpPr txBox="1"/>
          <p:nvPr/>
        </p:nvSpPr>
        <p:spPr>
          <a:xfrm>
            <a:off x="822960" y="1645920"/>
            <a:ext cx="3657600" cy="274320"/>
          </a:xfrm>
          <a:prstGeom prst="rect">
            <a:avLst/>
          </a:prstGeom>
          <a:noFill/>
          <a:ln/>
        </p:spPr>
        <p:txBody>
          <a:bodyPr wrap="square" lIns="0" tIns="0" rIns="0" bIns="0" rtlCol="0" anchor="t"/>
          <a:lstStyle/>
          <a:p>
            <a:pPr marL="0" indent="0">
              <a:buNone/>
            </a:pPr>
            <a:r>
              <a:rPr lang="en-US" sz="1050" b="1" kern="0" spc="300">
                <a:solidFill>
                  <a:srgbClr val="273363"/>
                </a:solidFill>
                <a:latin typeface="Calibri" panose="020F0502020204030204" pitchFamily="34" charset="0"/>
                <a:ea typeface="Calibri" pitchFamily="34" charset="-122"/>
                <a:cs typeface="Calibri" pitchFamily="34" charset="-120"/>
              </a:rPr>
              <a:t>REQUEST FLOW</a:t>
            </a:r>
            <a:endParaRPr lang="en-US" sz="1050" b="1" dirty="0">
              <a:solidFill>
                <a:srgbClr val="273363"/>
              </a:solidFill>
              <a:latin typeface="Calibri" panose="020F0502020204030204" pitchFamily="34" charset="0"/>
            </a:endParaRPr>
          </a:p>
        </p:txBody>
      </p:sp>
      <p:sp>
        <p:nvSpPr>
          <p:cNvPr id="7" name="Text 5"/>
          <p:cNvSpPr txBox="1"/>
          <p:nvPr/>
        </p:nvSpPr>
        <p:spPr>
          <a:xfrm>
            <a:off x="822960" y="2011680"/>
            <a:ext cx="6217920" cy="3566160"/>
          </a:xfrm>
          <a:prstGeom prst="rect">
            <a:avLst/>
          </a:prstGeom>
          <a:noFill/>
          <a:ln/>
        </p:spPr>
        <p:txBody>
          <a:bodyPr wrap="square" lIns="0" tIns="0" rIns="0" bIns="0" rtlCol="0" anchor="t"/>
          <a:lstStyle/>
          <a:p>
            <a:pPr marL="0" indent="0"/>
            <a:r>
              <a:rPr lang="en-US" sz="1420">
                <a:solidFill>
                  <a:srgbClr val="374365"/>
                </a:solidFill>
                <a:latin typeface="Calibri" pitchFamily="34" charset="0"/>
                <a:ea typeface="Calibri" pitchFamily="34" charset="-122"/>
                <a:cs typeface="Calibri" pitchFamily="34" charset="-120"/>
              </a:rPr>
              <a:t>Node.js and Express provide the REST API and authenticated WebSocket event intake.</a:t>
            </a:r>
          </a:p>
          <a:p>
            <a:pPr marL="0" indent="0"/>
            <a:endParaRPr lang="en-US" sz="1420">
              <a:solidFill>
                <a:srgbClr val="374365"/>
              </a:solidFill>
              <a:latin typeface="Calibri" pitchFamily="34" charset="0"/>
              <a:ea typeface="Calibri" pitchFamily="34" charset="-122"/>
              <a:cs typeface="Calibri" pitchFamily="34" charset="-120"/>
            </a:endParaRPr>
          </a:p>
          <a:p>
            <a:pPr marL="0" indent="0"/>
            <a:r>
              <a:rPr lang="en-US" sz="1420">
                <a:solidFill>
                  <a:srgbClr val="374365"/>
                </a:solidFill>
                <a:latin typeface="Calibri" pitchFamily="34" charset="0"/>
                <a:ea typeface="Calibri" pitchFamily="34" charset="-122"/>
                <a:cs typeface="Calibri" pitchFamily="34" charset="-120"/>
              </a:rPr>
              <a:t>1. The operator signs in and receives a JWT.</a:t>
            </a:r>
          </a:p>
          <a:p>
            <a:pPr marL="0" indent="0"/>
            <a:r>
              <a:rPr lang="en-US" sz="1420">
                <a:solidFill>
                  <a:srgbClr val="374365"/>
                </a:solidFill>
                <a:latin typeface="Calibri" pitchFamily="34" charset="0"/>
                <a:ea typeface="Calibri" pitchFamily="34" charset="-122"/>
                <a:cs typeface="Calibri" pitchFamily="34" charset="-120"/>
              </a:rPr>
              <a:t>2. The API starts a control session.</a:t>
            </a:r>
          </a:p>
          <a:p>
            <a:pPr marL="0" indent="0"/>
            <a:r>
              <a:rPr lang="en-US" sz="1420">
                <a:solidFill>
                  <a:srgbClr val="374365"/>
                </a:solidFill>
                <a:latin typeface="Calibri" pitchFamily="34" charset="0"/>
                <a:ea typeface="Calibri" pitchFamily="34" charset="-122"/>
                <a:cs typeface="Calibri" pitchFamily="34" charset="-120"/>
              </a:rPr>
              <a:t>3. It validates, stores and acknowledges session events.</a:t>
            </a:r>
          </a:p>
          <a:p>
            <a:pPr marL="0" indent="0"/>
            <a:endParaRPr lang="en-US" sz="1420">
              <a:solidFill>
                <a:srgbClr val="374365"/>
              </a:solidFill>
              <a:latin typeface="Calibri" pitchFamily="34" charset="0"/>
              <a:ea typeface="Calibri" pitchFamily="34" charset="-122"/>
              <a:cs typeface="Calibri" pitchFamily="34" charset="-120"/>
            </a:endParaRPr>
          </a:p>
          <a:p>
            <a:pPr marL="0" indent="0"/>
            <a:r>
              <a:rPr lang="en-US" sz="1420">
                <a:solidFill>
                  <a:srgbClr val="374365"/>
                </a:solidFill>
                <a:latin typeface="Calibri" pitchFamily="34" charset="0"/>
                <a:ea typeface="Calibri" pitchFamily="34" charset="-122"/>
                <a:cs typeface="Calibri" pitchFamily="34" charset="-120"/>
              </a:rPr>
              <a:t>Routes cover authentication, sessions, event history and admin audits.</a:t>
            </a:r>
            <a:endParaRPr lang="en-US" sz="1420" dirty="0">
              <a:solidFill>
                <a:srgbClr val="374365"/>
              </a:solidFill>
              <a:latin typeface="Calibri" panose="020F0502020204030204" pitchFamily="34" charset="0"/>
            </a:endParaRPr>
          </a:p>
        </p:txBody>
      </p:sp>
      <p:sp>
        <p:nvSpPr>
          <p:cNvPr id="8" name="Shape 6"/>
          <p:cNvSpPr/>
          <p:nvPr/>
        </p:nvSpPr>
        <p:spPr>
          <a:xfrm>
            <a:off x="7616952" y="1463040"/>
            <a:ext cx="4023360" cy="4206240"/>
          </a:xfrm>
          <a:prstGeom prst="roundRect">
            <a:avLst>
              <a:gd name="adj" fmla="val 1818"/>
            </a:avLst>
          </a:prstGeom>
          <a:solidFill>
            <a:srgbClr val="FBF6EC"/>
          </a:solidFill>
          <a:ln w="12700">
            <a:solidFill>
              <a:srgbClr val="E8DCC0"/>
            </a:solidFill>
            <a:prstDash val="solid"/>
          </a:ln>
        </p:spPr>
        <p:txBody>
          <a:bodyPr/>
          <a:lstStyle/>
          <a:p>
            <a:endParaRPr lang="en-US"/>
          </a:p>
        </p:txBody>
      </p:sp>
      <p:sp>
        <p:nvSpPr>
          <p:cNvPr id="9" name="Text 7"/>
          <p:cNvSpPr txBox="1"/>
          <p:nvPr/>
        </p:nvSpPr>
        <p:spPr>
          <a:xfrm>
            <a:off x="7891272" y="1645920"/>
            <a:ext cx="3474720" cy="274320"/>
          </a:xfrm>
          <a:prstGeom prst="rect">
            <a:avLst/>
          </a:prstGeom>
          <a:noFill/>
          <a:ln/>
        </p:spPr>
        <p:txBody>
          <a:bodyPr wrap="square" lIns="0" tIns="0" rIns="0" bIns="0" rtlCol="0" anchor="t"/>
          <a:lstStyle/>
          <a:p>
            <a:pPr marL="0" indent="0">
              <a:buNone/>
            </a:pPr>
            <a:r>
              <a:rPr lang="en-US" sz="1050" b="1" kern="0" spc="300">
                <a:solidFill>
                  <a:srgbClr val="CD9732"/>
                </a:solidFill>
                <a:latin typeface="Calibri" panose="020F0502020204030204" pitchFamily="34" charset="0"/>
                <a:ea typeface="Calibri" pitchFamily="34" charset="-122"/>
                <a:cs typeface="Calibri" pitchFamily="34" charset="-120"/>
              </a:rPr>
              <a:t>DATA AND SAFEGUARDS</a:t>
            </a:r>
            <a:endParaRPr lang="en-US" sz="1050" b="1" dirty="0">
              <a:solidFill>
                <a:srgbClr val="CD9732"/>
              </a:solidFill>
              <a:latin typeface="Calibri" panose="020F0502020204030204" pitchFamily="34" charset="0"/>
            </a:endParaRPr>
          </a:p>
        </p:txBody>
      </p:sp>
      <p:sp>
        <p:nvSpPr>
          <p:cNvPr id="10" name="Text 8"/>
          <p:cNvSpPr txBox="1"/>
          <p:nvPr/>
        </p:nvSpPr>
        <p:spPr>
          <a:xfrm>
            <a:off x="7891272" y="2011680"/>
            <a:ext cx="3474720" cy="3566160"/>
          </a:xfrm>
          <a:prstGeom prst="rect">
            <a:avLst/>
          </a:prstGeom>
          <a:noFill/>
          <a:ln/>
        </p:spPr>
        <p:txBody>
          <a:bodyPr wrap="square" lIns="0" tIns="0" rIns="0" bIns="0" rtlCol="0" anchor="t"/>
          <a:lstStyle/>
          <a:p>
            <a:pPr marL="0" indent="0"/>
            <a:r>
              <a:rPr lang="en-US" sz="1320">
                <a:solidFill>
                  <a:srgbClr val="374365"/>
                </a:solidFill>
                <a:latin typeface="Calibri" pitchFamily="34" charset="0"/>
                <a:ea typeface="Calibri" pitchFamily="34" charset="-122"/>
                <a:cs typeface="Calibri" pitchFamily="34" charset="-120"/>
              </a:rPr>
              <a:t>PostgreSQL with TypeORM stores users, roles, sessions and admin audit records.</a:t>
            </a:r>
          </a:p>
          <a:p>
            <a:pPr marL="0" indent="0"/>
            <a:endParaRPr lang="en-US" sz="1320">
              <a:solidFill>
                <a:srgbClr val="374365"/>
              </a:solidFill>
              <a:latin typeface="Calibri" pitchFamily="34" charset="0"/>
              <a:ea typeface="Calibri" pitchFamily="34" charset="-122"/>
              <a:cs typeface="Calibri" pitchFamily="34" charset="-120"/>
            </a:endParaRPr>
          </a:p>
          <a:p>
            <a:pPr marL="0" indent="0"/>
            <a:r>
              <a:rPr lang="en-US" sz="1320">
                <a:solidFill>
                  <a:srgbClr val="374365"/>
                </a:solidFill>
                <a:latin typeface="Calibri" pitchFamily="34" charset="0"/>
                <a:ea typeface="Calibri" pitchFamily="34" charset="-122"/>
                <a:cs typeface="Calibri" pitchFamily="34" charset="-120"/>
              </a:rPr>
              <a:t>MongoDB with Mongoose stores controller inputs, device and robot status, voice status, telemetry and command results.</a:t>
            </a:r>
          </a:p>
          <a:p>
            <a:pPr marL="0" indent="0"/>
            <a:endParaRPr lang="en-US" sz="1320">
              <a:solidFill>
                <a:srgbClr val="374365"/>
              </a:solidFill>
              <a:latin typeface="Calibri" pitchFamily="34" charset="0"/>
              <a:ea typeface="Calibri" pitchFamily="34" charset="-122"/>
              <a:cs typeface="Calibri" pitchFamily="34" charset="-120"/>
            </a:endParaRPr>
          </a:p>
          <a:p>
            <a:pPr marL="0" indent="0"/>
            <a:r>
              <a:rPr lang="en-US" sz="1320">
                <a:solidFill>
                  <a:srgbClr val="374365"/>
                </a:solidFill>
                <a:latin typeface="Calibri" pitchFamily="34" charset="0"/>
                <a:ea typeface="Calibri" pitchFamily="34" charset="-122"/>
                <a:cs typeface="Calibri" pitchFamily="34" charset="-120"/>
              </a:rPr>
              <a:t>Zod rejects unknown fields; duplicate event IDs are acknowledged safely.</a:t>
            </a:r>
          </a:p>
          <a:p>
            <a:pPr marL="0" indent="0"/>
            <a:endParaRPr lang="en-US" sz="1320">
              <a:solidFill>
                <a:srgbClr val="374365"/>
              </a:solidFill>
              <a:latin typeface="Calibri" pitchFamily="34" charset="0"/>
              <a:ea typeface="Calibri" pitchFamily="34" charset="-122"/>
              <a:cs typeface="Calibri" pitchFamily="34" charset="-120"/>
            </a:endParaRPr>
          </a:p>
          <a:p>
            <a:pPr marL="0" indent="0"/>
            <a:r>
              <a:rPr lang="en-US" sz="1320">
                <a:solidFill>
                  <a:srgbClr val="374365"/>
                </a:solidFill>
                <a:latin typeface="Calibri" pitchFamily="34" charset="0"/>
                <a:ea typeface="Calibri" pitchFamily="34" charset="-122"/>
                <a:cs typeface="Calibri" pitchFamily="34" charset="-120"/>
              </a:rPr>
              <a:t>Raw audio and transcripts are not accepted. Events expire after 90 days by default.</a:t>
            </a:r>
            <a:endParaRPr lang="en-US" sz="1320" dirty="0">
              <a:solidFill>
                <a:srgbClr val="374365"/>
              </a:solidFill>
              <a:latin typeface="Calibri" panose="020F0502020204030204" pitchFamily="34" charset="0"/>
            </a:endParaRPr>
          </a:p>
        </p:txBody>
      </p:sp>
      <p:sp>
        <p:nvSpPr>
          <p:cNvPr id="12" name="Text 1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5  |  API ROUTES AND DATA</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cs typeface="Cambria" pitchFamily="34" charset="-120"/>
              </a:rPr>
              <a:t>API routes and event records</a:t>
            </a:r>
            <a:endParaRPr lang="en-US" sz="3200" dirty="0"/>
          </a:p>
        </p:txBody>
      </p:sp>
      <p:sp>
        <p:nvSpPr>
          <p:cNvPr id="5" name="Shape 3"/>
          <p:cNvSpPr/>
          <p:nvPr/>
        </p:nvSpPr>
        <p:spPr>
          <a:xfrm>
            <a:off x="548640" y="1463040"/>
            <a:ext cx="6766560" cy="4206240"/>
          </a:xfrm>
          <a:prstGeom prst="roundRect">
            <a:avLst>
              <a:gd name="adj" fmla="val 1739"/>
            </a:avLst>
          </a:prstGeom>
          <a:solidFill>
            <a:srgbClr val="F7F8FC"/>
          </a:solidFill>
          <a:ln w="12700">
            <a:solidFill>
              <a:srgbClr val="DDE2EE"/>
            </a:solidFill>
            <a:prstDash val="solid"/>
          </a:ln>
        </p:spPr>
        <p:txBody>
          <a:bodyPr/>
          <a:lstStyle/>
          <a:p>
            <a:endParaRPr lang="en-US"/>
          </a:p>
        </p:txBody>
      </p:sp>
      <p:sp>
        <p:nvSpPr>
          <p:cNvPr id="6" name="Text 4"/>
          <p:cNvSpPr txBox="1"/>
          <p:nvPr/>
        </p:nvSpPr>
        <p:spPr>
          <a:xfrm>
            <a:off x="822960" y="1645920"/>
            <a:ext cx="3657600" cy="274320"/>
          </a:xfrm>
          <a:prstGeom prst="rect">
            <a:avLst/>
          </a:prstGeom>
          <a:noFill/>
          <a:ln/>
        </p:spPr>
        <p:txBody>
          <a:bodyPr wrap="square" lIns="0" tIns="0" rIns="0" bIns="0" rtlCol="0" anchor="t"/>
          <a:lstStyle/>
          <a:p>
            <a:pPr marL="0" indent="0">
              <a:buNone/>
            </a:pPr>
            <a:r>
              <a:rPr lang="en-US" sz="1050" b="1" kern="0" spc="300">
                <a:solidFill>
                  <a:srgbClr val="CD9732"/>
                </a:solidFill>
                <a:latin typeface="Calibri" panose="020F0502020204030204" pitchFamily="34" charset="0"/>
                <a:ea typeface="Calibri" pitchFamily="34" charset="-122"/>
                <a:cs typeface="Calibri" pitchFamily="34" charset="-120"/>
              </a:rPr>
              <a:t>REST AND WEBSOCKET ROUTES</a:t>
            </a:r>
            <a:endParaRPr lang="en-US" sz="1050" b="1" dirty="0">
              <a:solidFill>
                <a:srgbClr val="CD9732"/>
              </a:solidFill>
              <a:latin typeface="Calibri" panose="020F0502020204030204" pitchFamily="34" charset="0"/>
            </a:endParaRPr>
          </a:p>
        </p:txBody>
      </p:sp>
      <p:sp>
        <p:nvSpPr>
          <p:cNvPr id="7" name="Text 5"/>
          <p:cNvSpPr txBox="1"/>
          <p:nvPr/>
        </p:nvSpPr>
        <p:spPr>
          <a:xfrm>
            <a:off x="822960" y="2011680"/>
            <a:ext cx="6217920" cy="3566160"/>
          </a:xfrm>
          <a:prstGeom prst="rect">
            <a:avLst/>
          </a:prstGeom>
          <a:noFill/>
          <a:ln/>
        </p:spPr>
        <p:txBody>
          <a:bodyPr wrap="square" lIns="0" tIns="0" rIns="0" bIns="0" rtlCol="0" anchor="t"/>
          <a:lstStyle/>
          <a:p>
            <a:pPr marL="0" indent="0"/>
            <a:r>
              <a:rPr lang="en-US" sz="1320">
                <a:solidFill>
                  <a:srgbClr val="374365"/>
                </a:solidFill>
                <a:latin typeface="Calibri" pitchFamily="34" charset="0"/>
                <a:ea typeface="Calibri" pitchFamily="34" charset="-122"/>
                <a:cs typeface="Calibri" pitchFamily="34" charset="-120"/>
              </a:rPr>
              <a:t>Authentication</a:t>
            </a:r>
          </a:p>
          <a:p>
            <a:pPr marL="0" indent="0"/>
            <a:r>
              <a:rPr lang="en-US" sz="1320">
                <a:solidFill>
                  <a:srgbClr val="374365"/>
                </a:solidFill>
                <a:latin typeface="Calibri" pitchFamily="34" charset="0"/>
                <a:ea typeface="Calibri" pitchFamily="34" charset="-122"/>
                <a:cs typeface="Calibri" pitchFamily="34" charset="-120"/>
              </a:rPr>
              <a:t>/auth/register  /  /auth/login</a:t>
            </a:r>
          </a:p>
          <a:p>
            <a:pPr marL="0" indent="0"/>
            <a:r>
              <a:rPr lang="en-US" sz="1320">
                <a:solidFill>
                  <a:srgbClr val="374365"/>
                </a:solidFill>
                <a:latin typeface="Calibri" pitchFamily="34" charset="0"/>
                <a:ea typeface="Calibri" pitchFamily="34" charset="-122"/>
                <a:cs typeface="Calibri" pitchFamily="34" charset="-120"/>
              </a:rPr>
              <a:t>/auth/me</a:t>
            </a:r>
          </a:p>
          <a:p>
            <a:pPr marL="0" indent="0"/>
            <a:endParaRPr lang="en-US" sz="1320">
              <a:solidFill>
                <a:srgbClr val="374365"/>
              </a:solidFill>
              <a:latin typeface="Calibri" pitchFamily="34" charset="0"/>
              <a:ea typeface="Calibri" pitchFamily="34" charset="-122"/>
              <a:cs typeface="Calibri" pitchFamily="34" charset="-120"/>
            </a:endParaRPr>
          </a:p>
          <a:p>
            <a:pPr marL="0" indent="0"/>
            <a:r>
              <a:rPr lang="en-US" sz="1320">
                <a:solidFill>
                  <a:srgbClr val="374365"/>
                </a:solidFill>
                <a:latin typeface="Calibri" pitchFamily="34" charset="0"/>
                <a:ea typeface="Calibri" pitchFamily="34" charset="-122"/>
                <a:cs typeface="Calibri" pitchFamily="34" charset="-120"/>
              </a:rPr>
              <a:t>Sessions</a:t>
            </a:r>
          </a:p>
          <a:p>
            <a:pPr marL="0" indent="0"/>
            <a:r>
              <a:rPr lang="en-US" sz="1320">
                <a:solidFill>
                  <a:srgbClr val="374365"/>
                </a:solidFill>
                <a:latin typeface="Calibri" pitchFamily="34" charset="0"/>
                <a:ea typeface="Calibri" pitchFamily="34" charset="-122"/>
                <a:cs typeface="Calibri" pitchFamily="34" charset="-120"/>
              </a:rPr>
              <a:t>/sessions</a:t>
            </a:r>
          </a:p>
          <a:p>
            <a:pPr marL="0" indent="0"/>
            <a:r>
              <a:rPr lang="en-US" sz="1320">
                <a:solidFill>
                  <a:srgbClr val="374365"/>
                </a:solidFill>
                <a:latin typeface="Calibri" pitchFamily="34" charset="0"/>
                <a:ea typeface="Calibri" pitchFamily="34" charset="-122"/>
                <a:cs typeface="Calibri" pitchFamily="34" charset="-120"/>
              </a:rPr>
              <a:t>/sessions/:sessionId/events</a:t>
            </a:r>
          </a:p>
          <a:p>
            <a:pPr marL="0" indent="0"/>
            <a:r>
              <a:rPr lang="en-US" sz="1320">
                <a:solidFill>
                  <a:srgbClr val="374365"/>
                </a:solidFill>
                <a:latin typeface="Calibri" pitchFamily="34" charset="0"/>
                <a:ea typeface="Calibri" pitchFamily="34" charset="-122"/>
                <a:cs typeface="Calibri" pitchFamily="34" charset="-120"/>
              </a:rPr>
              <a:t>/sessions/:sessionId/close</a:t>
            </a:r>
          </a:p>
          <a:p>
            <a:pPr marL="0" indent="0"/>
            <a:endParaRPr lang="en-US" sz="1320">
              <a:solidFill>
                <a:srgbClr val="374365"/>
              </a:solidFill>
              <a:latin typeface="Calibri" pitchFamily="34" charset="0"/>
              <a:ea typeface="Calibri" pitchFamily="34" charset="-122"/>
              <a:cs typeface="Calibri" pitchFamily="34" charset="-120"/>
            </a:endParaRPr>
          </a:p>
          <a:p>
            <a:pPr marL="0" indent="0"/>
            <a:r>
              <a:rPr lang="en-US" sz="1320">
                <a:solidFill>
                  <a:srgbClr val="374365"/>
                </a:solidFill>
                <a:latin typeface="Calibri" pitchFamily="34" charset="0"/>
                <a:ea typeface="Calibri" pitchFamily="34" charset="-122"/>
                <a:cs typeface="Calibri" pitchFamily="34" charset="-120"/>
              </a:rPr>
              <a:t>Admin and live events</a:t>
            </a:r>
          </a:p>
          <a:p>
            <a:pPr marL="0" indent="0"/>
            <a:r>
              <a:rPr lang="en-US" sz="1320">
                <a:solidFill>
                  <a:srgbClr val="374365"/>
                </a:solidFill>
                <a:latin typeface="Calibri" pitchFamily="34" charset="0"/>
                <a:ea typeface="Calibri" pitchFamily="34" charset="-122"/>
                <a:cs typeface="Calibri" pitchFamily="34" charset="-120"/>
              </a:rPr>
              <a:t>/admin/users  /  /admin/audit</a:t>
            </a:r>
          </a:p>
          <a:p>
            <a:pPr marL="0" indent="0"/>
            <a:r>
              <a:rPr lang="en-US" sz="1320">
                <a:solidFill>
                  <a:srgbClr val="374365"/>
                </a:solidFill>
                <a:latin typeface="Calibri" pitchFamily="34" charset="0"/>
                <a:ea typeface="Calibri" pitchFamily="34" charset="-122"/>
                <a:cs typeface="Calibri" pitchFamily="34" charset="-120"/>
              </a:rPr>
              <a:t>WebSocket: /api/v1/ws</a:t>
            </a:r>
            <a:endParaRPr lang="en-US" sz="1320" dirty="0">
              <a:solidFill>
                <a:srgbClr val="374365"/>
              </a:solidFill>
              <a:latin typeface="Calibri" panose="020F0502020204030204" pitchFamily="34" charset="0"/>
            </a:endParaRPr>
          </a:p>
        </p:txBody>
      </p:sp>
      <p:sp>
        <p:nvSpPr>
          <p:cNvPr id="8" name="Shape 6"/>
          <p:cNvSpPr/>
          <p:nvPr/>
        </p:nvSpPr>
        <p:spPr>
          <a:xfrm>
            <a:off x="7616952" y="1463040"/>
            <a:ext cx="4023360" cy="4206240"/>
          </a:xfrm>
          <a:prstGeom prst="roundRect">
            <a:avLst>
              <a:gd name="adj" fmla="val 1818"/>
            </a:avLst>
          </a:prstGeom>
          <a:solidFill>
            <a:srgbClr val="FBF6EC"/>
          </a:solidFill>
          <a:ln w="12700">
            <a:solidFill>
              <a:srgbClr val="E8DCC0"/>
            </a:solidFill>
            <a:prstDash val="solid"/>
          </a:ln>
        </p:spPr>
        <p:txBody>
          <a:bodyPr/>
          <a:lstStyle/>
          <a:p>
            <a:endParaRPr lang="en-US"/>
          </a:p>
        </p:txBody>
      </p:sp>
      <p:sp>
        <p:nvSpPr>
          <p:cNvPr id="9" name="Text 7"/>
          <p:cNvSpPr txBox="1"/>
          <p:nvPr/>
        </p:nvSpPr>
        <p:spPr>
          <a:xfrm>
            <a:off x="7891272" y="1645920"/>
            <a:ext cx="3474720" cy="274320"/>
          </a:xfrm>
          <a:prstGeom prst="rect">
            <a:avLst/>
          </a:prstGeom>
          <a:noFill/>
          <a:ln/>
        </p:spPr>
        <p:txBody>
          <a:bodyPr wrap="square" lIns="0" tIns="0" rIns="0" bIns="0" rtlCol="0" anchor="t"/>
          <a:lstStyle/>
          <a:p>
            <a:pPr marL="0" indent="0">
              <a:buNone/>
            </a:pPr>
            <a:r>
              <a:rPr lang="en-US" sz="1050" b="1" kern="0" spc="300">
                <a:solidFill>
                  <a:srgbClr val="273363"/>
                </a:solidFill>
                <a:latin typeface="Calibri" panose="020F0502020204030204" pitchFamily="34" charset="0"/>
                <a:ea typeface="Calibri" pitchFamily="34" charset="-122"/>
                <a:cs typeface="Calibri" pitchFamily="34" charset="-120"/>
              </a:rPr>
              <a:t>SYNTHETIC EVENT AND VALIDATION</a:t>
            </a:r>
            <a:endParaRPr lang="en-US" sz="1050" b="1" dirty="0">
              <a:solidFill>
                <a:srgbClr val="273363"/>
              </a:solidFill>
              <a:latin typeface="Calibri" panose="020F0502020204030204" pitchFamily="34" charset="0"/>
            </a:endParaRPr>
          </a:p>
        </p:txBody>
      </p:sp>
      <p:sp>
        <p:nvSpPr>
          <p:cNvPr id="10" name="Text 8"/>
          <p:cNvSpPr txBox="1"/>
          <p:nvPr/>
        </p:nvSpPr>
        <p:spPr>
          <a:xfrm>
            <a:off x="7891272" y="2011680"/>
            <a:ext cx="3474720" cy="3566160"/>
          </a:xfrm>
          <a:prstGeom prst="rect">
            <a:avLst/>
          </a:prstGeom>
          <a:noFill/>
          <a:ln/>
        </p:spPr>
        <p:txBody>
          <a:bodyPr wrap="square" lIns="0" tIns="0" rIns="0" bIns="0" rtlCol="0" anchor="t"/>
          <a:lstStyle/>
          <a:p>
            <a:pPr marL="0" indent="0"/>
            <a:r>
              <a:rPr lang="en-US" sz="1280">
                <a:solidFill>
                  <a:srgbClr val="374365"/>
                </a:solidFill>
                <a:latin typeface="Calibri" pitchFamily="34" charset="0"/>
                <a:ea typeface="Calibri" pitchFamily="34" charset="-122"/>
                <a:cs typeface="Calibri" pitchFamily="34" charset="-120"/>
              </a:rPr>
              <a:t>Example fields</a:t>
            </a:r>
          </a:p>
          <a:p>
            <a:pPr marL="0" indent="0"/>
            <a:r>
              <a:rPr lang="en-US" sz="1280">
                <a:solidFill>
                  <a:srgbClr val="374365"/>
                </a:solidFill>
                <a:latin typeface="Calibri" pitchFamily="34" charset="0"/>
                <a:ea typeface="Calibri" pitchFamily="34" charset="-122"/>
                <a:cs typeface="Calibri" pitchFamily="34" charset="-120"/>
              </a:rPr>
              <a:t>source: system</a:t>
            </a:r>
          </a:p>
          <a:p>
            <a:pPr marL="0" indent="0"/>
            <a:r>
              <a:rPr lang="en-US" sz="1280">
                <a:solidFill>
                  <a:srgbClr val="374365"/>
                </a:solidFill>
                <a:latin typeface="Calibri" pitchFamily="34" charset="0"/>
                <a:ea typeface="Calibri" pitchFamily="34" charset="-122"/>
                <a:cs typeface="Calibri" pitchFamily="34" charset="-120"/>
              </a:rPr>
              <a:t>category: device_status</a:t>
            </a:r>
          </a:p>
          <a:p>
            <a:pPr marL="0" indent="0"/>
            <a:r>
              <a:rPr lang="en-US" sz="1280">
                <a:solidFill>
                  <a:srgbClr val="374365"/>
                </a:solidFill>
                <a:latin typeface="Calibri" pitchFamily="34" charset="0"/>
                <a:ea typeface="Calibri" pitchFamily="34" charset="-122"/>
                <a:cs typeface="Calibri" pitchFamily="34" charset="-120"/>
              </a:rPr>
              <a:t>eventName: test.rest.persistence</a:t>
            </a:r>
          </a:p>
          <a:p>
            <a:pPr marL="0" indent="0"/>
            <a:r>
              <a:rPr lang="en-US" sz="1280">
                <a:solidFill>
                  <a:srgbClr val="374365"/>
                </a:solidFill>
                <a:latin typeface="Calibri" pitchFamily="34" charset="0"/>
                <a:ea typeface="Calibri" pitchFamily="34" charset="-122"/>
                <a:cs typeface="Calibri" pitchFamily="34" charset="-120"/>
              </a:rPr>
              <a:t>data: connected=true, statusCode=TEST_ONLY</a:t>
            </a:r>
          </a:p>
          <a:p>
            <a:pPr marL="0" indent="0"/>
            <a:endParaRPr lang="en-US" sz="1280">
              <a:solidFill>
                <a:srgbClr val="374365"/>
              </a:solidFill>
              <a:latin typeface="Calibri" pitchFamily="34" charset="0"/>
              <a:ea typeface="Calibri" pitchFamily="34" charset="-122"/>
              <a:cs typeface="Calibri" pitchFamily="34" charset="-120"/>
            </a:endParaRPr>
          </a:p>
          <a:p>
            <a:pPr marL="0" indent="0"/>
            <a:r>
              <a:rPr lang="en-US" sz="1280">
                <a:solidFill>
                  <a:srgbClr val="374365"/>
                </a:solidFill>
                <a:latin typeface="Calibri" pitchFamily="34" charset="0"/>
                <a:ea typeface="Calibri" pitchFamily="34" charset="-122"/>
                <a:cs typeface="Calibri" pitchFamily="34" charset="-120"/>
              </a:rPr>
              <a:t>The API validates each event and ties it to its session. It safely acknowledges duplicate event IDs and rejects unknown fields. Event records expire after 90 days.</a:t>
            </a:r>
            <a:endParaRPr lang="en-US" sz="1280" dirty="0">
              <a:solidFill>
                <a:srgbClr val="374365"/>
              </a:solidFill>
              <a:latin typeface="Calibri" panose="020F0502020204030204" pitchFamily="34" charset="0"/>
            </a:endParaRPr>
          </a:p>
        </p:txBody>
      </p:sp>
      <p:sp>
        <p:nvSpPr>
          <p:cNvPr id="12" name="Text 1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6</a:t>
            </a:r>
            <a:endParaRPr lang="en-US" sz="900" dirty="0"/>
          </a:p>
        </p:txBody>
      </p:sp>
    </p:spTree>
    <p:extLst>
      <p:ext uri="{BB962C8B-B14F-4D97-AF65-F5344CB8AC3E}">
        <p14:creationId xmlns:p14="http://schemas.microsoft.com/office/powerpoint/2010/main" val="3181278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6  |  DEPLOYMENT AND ACCESS</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cs typeface="Cambria" pitchFamily="34" charset="-120"/>
              </a:rPr>
              <a:t>Deployment and access</a:t>
            </a:r>
            <a:endParaRPr lang="en-US" sz="3200" dirty="0"/>
          </a:p>
        </p:txBody>
      </p:sp>
      <p:sp>
        <p:nvSpPr>
          <p:cNvPr id="5" name="Shape 3"/>
          <p:cNvSpPr/>
          <p:nvPr/>
        </p:nvSpPr>
        <p:spPr>
          <a:xfrm>
            <a:off x="548640" y="1463040"/>
            <a:ext cx="3566160" cy="2103120"/>
          </a:xfrm>
          <a:prstGeom prst="roundRect">
            <a:avLst>
              <a:gd name="adj" fmla="val 3478"/>
            </a:avLst>
          </a:prstGeom>
          <a:solidFill>
            <a:srgbClr val="F7F8FC"/>
          </a:solidFill>
          <a:ln w="12700">
            <a:solidFill>
              <a:srgbClr val="DDE2EE"/>
            </a:solidFill>
            <a:prstDash val="solid"/>
          </a:ln>
        </p:spPr>
        <p:txBody>
          <a:bodyPr/>
          <a:lstStyle/>
          <a:p>
            <a:endParaRPr lang="en-US"/>
          </a:p>
        </p:txBody>
      </p:sp>
      <p:sp>
        <p:nvSpPr>
          <p:cNvPr id="6" name="Text 4"/>
          <p:cNvSpPr txBox="1"/>
          <p:nvPr/>
        </p:nvSpPr>
        <p:spPr>
          <a:xfrm>
            <a:off x="822960" y="1645920"/>
            <a:ext cx="3017520" cy="274320"/>
          </a:xfrm>
          <a:prstGeom prst="rect">
            <a:avLst/>
          </a:prstGeom>
          <a:noFill/>
          <a:ln/>
        </p:spPr>
        <p:txBody>
          <a:bodyPr wrap="square" lIns="0" tIns="0" rIns="0" bIns="0" rtlCol="0" anchor="t"/>
          <a:lstStyle/>
          <a:p>
            <a:pPr marL="0" indent="0">
              <a:buNone/>
            </a:pPr>
            <a:r>
              <a:rPr lang="en-US" sz="1050" b="1" kern="0" spc="300">
                <a:solidFill>
                  <a:srgbClr val="273363"/>
                </a:solidFill>
                <a:latin typeface="Calibri" panose="020F0502020204030204" pitchFamily="34" charset="0"/>
                <a:ea typeface="Calibri" pitchFamily="34" charset="-122"/>
                <a:cs typeface="Calibri" pitchFamily="34" charset="-120"/>
              </a:rPr>
              <a:t>WHO USES IT</a:t>
            </a:r>
            <a:endParaRPr lang="en-US" sz="1050" b="1" dirty="0">
              <a:solidFill>
                <a:srgbClr val="273363"/>
              </a:solidFill>
              <a:latin typeface="Calibri" panose="020F0502020204030204" pitchFamily="34" charset="0"/>
            </a:endParaRPr>
          </a:p>
        </p:txBody>
      </p:sp>
      <p:sp>
        <p:nvSpPr>
          <p:cNvPr id="7" name="Text 5"/>
          <p:cNvSpPr txBox="1"/>
          <p:nvPr/>
        </p:nvSpPr>
        <p:spPr>
          <a:xfrm>
            <a:off x="822960" y="2057400"/>
            <a:ext cx="3017520" cy="1371600"/>
          </a:xfrm>
          <a:prstGeom prst="rect">
            <a:avLst/>
          </a:prstGeom>
          <a:noFill/>
          <a:ln/>
        </p:spPr>
        <p:txBody>
          <a:bodyPr wrap="square" lIns="0" tIns="0" rIns="0" bIns="0" rtlCol="0" anchor="t"/>
          <a:lstStyle/>
          <a:p>
            <a:pPr marL="0" indent="0"/>
            <a:r>
              <a:rPr lang="en-US" sz="1420">
                <a:solidFill>
                  <a:srgbClr val="374365"/>
                </a:solidFill>
                <a:latin typeface="Calibri" panose="020F0502020204030204" pitchFamily="34" charset="0"/>
                <a:ea typeface="Calibri" pitchFamily="34" charset="-122"/>
                <a:cs typeface="Calibri" pitchFamily="34" charset="-120"/>
              </a:rPr>
              <a:t>Control application operators and project administrators.</a:t>
            </a:r>
            <a:endParaRPr lang="en-US" sz="1420" dirty="0">
              <a:solidFill>
                <a:srgbClr val="374365"/>
              </a:solidFill>
              <a:latin typeface="Calibri" panose="020F0502020204030204" pitchFamily="34" charset="0"/>
            </a:endParaRPr>
          </a:p>
        </p:txBody>
      </p:sp>
      <p:sp>
        <p:nvSpPr>
          <p:cNvPr id="8" name="Shape 6"/>
          <p:cNvSpPr/>
          <p:nvPr/>
        </p:nvSpPr>
        <p:spPr>
          <a:xfrm>
            <a:off x="4297680" y="1463040"/>
            <a:ext cx="3566160" cy="2103120"/>
          </a:xfrm>
          <a:prstGeom prst="roundRect">
            <a:avLst>
              <a:gd name="adj" fmla="val 3478"/>
            </a:avLst>
          </a:prstGeom>
          <a:solidFill>
            <a:srgbClr val="F7F8FC"/>
          </a:solidFill>
          <a:ln w="12700">
            <a:solidFill>
              <a:srgbClr val="DDE2EE"/>
            </a:solidFill>
            <a:prstDash val="solid"/>
          </a:ln>
        </p:spPr>
        <p:txBody>
          <a:bodyPr/>
          <a:lstStyle/>
          <a:p>
            <a:endParaRPr lang="en-US"/>
          </a:p>
        </p:txBody>
      </p:sp>
      <p:sp>
        <p:nvSpPr>
          <p:cNvPr id="9" name="Text 7"/>
          <p:cNvSpPr txBox="1"/>
          <p:nvPr/>
        </p:nvSpPr>
        <p:spPr>
          <a:xfrm>
            <a:off x="4572000" y="1645920"/>
            <a:ext cx="3017520" cy="274320"/>
          </a:xfrm>
          <a:prstGeom prst="rect">
            <a:avLst/>
          </a:prstGeom>
          <a:noFill/>
          <a:ln/>
        </p:spPr>
        <p:txBody>
          <a:bodyPr wrap="square" lIns="0" tIns="0" rIns="0" bIns="0" rtlCol="0" anchor="t"/>
          <a:lstStyle/>
          <a:p>
            <a:pPr marL="0" indent="0">
              <a:buNone/>
            </a:pPr>
            <a:r>
              <a:rPr lang="en-US" sz="1050" b="1" kern="0" spc="300">
                <a:solidFill>
                  <a:srgbClr val="273363"/>
                </a:solidFill>
                <a:latin typeface="Calibri" panose="020F0502020204030204" pitchFamily="34" charset="0"/>
                <a:ea typeface="Calibri" pitchFamily="34" charset="-122"/>
                <a:cs typeface="Calibri" pitchFamily="34" charset="-120"/>
              </a:rPr>
              <a:t>HOW THEY ACCESS IT</a:t>
            </a:r>
            <a:endParaRPr lang="en-US" sz="1050" b="1" dirty="0">
              <a:solidFill>
                <a:srgbClr val="273363"/>
              </a:solidFill>
              <a:latin typeface="Calibri" panose="020F0502020204030204" pitchFamily="34" charset="0"/>
            </a:endParaRPr>
          </a:p>
        </p:txBody>
      </p:sp>
      <p:sp>
        <p:nvSpPr>
          <p:cNvPr id="10" name="Text 8"/>
          <p:cNvSpPr txBox="1"/>
          <p:nvPr/>
        </p:nvSpPr>
        <p:spPr>
          <a:xfrm>
            <a:off x="4572000" y="2057400"/>
            <a:ext cx="3017520" cy="1371600"/>
          </a:xfrm>
          <a:prstGeom prst="rect">
            <a:avLst/>
          </a:prstGeom>
          <a:noFill/>
          <a:ln/>
        </p:spPr>
        <p:txBody>
          <a:bodyPr wrap="square" lIns="0" tIns="0" rIns="0" bIns="0" rtlCol="0" anchor="t"/>
          <a:lstStyle/>
          <a:p>
            <a:pPr marL="0" indent="0"/>
            <a:r>
              <a:rPr lang="en-US" sz="1420">
                <a:solidFill>
                  <a:srgbClr val="374365"/>
                </a:solidFill>
                <a:latin typeface="Calibri" panose="020F0502020204030204" pitchFamily="34" charset="0"/>
                <a:ea typeface="Calibri" pitchFamily="34" charset="-122"/>
                <a:cs typeface="Calibri" pitchFamily="34" charset="-120"/>
              </a:rPr>
              <a:t>A public HTTPS API with authenticated REST and WebSocket routes.</a:t>
            </a:r>
            <a:endParaRPr lang="en-US" sz="1420" dirty="0">
              <a:solidFill>
                <a:srgbClr val="374365"/>
              </a:solidFill>
              <a:latin typeface="Calibri" panose="020F0502020204030204" pitchFamily="34" charset="0"/>
            </a:endParaRPr>
          </a:p>
        </p:txBody>
      </p:sp>
      <p:sp>
        <p:nvSpPr>
          <p:cNvPr id="11" name="Shape 9"/>
          <p:cNvSpPr/>
          <p:nvPr/>
        </p:nvSpPr>
        <p:spPr>
          <a:xfrm>
            <a:off x="8046720" y="1463040"/>
            <a:ext cx="3566160" cy="2103120"/>
          </a:xfrm>
          <a:prstGeom prst="roundRect">
            <a:avLst>
              <a:gd name="adj" fmla="val 3478"/>
            </a:avLst>
          </a:prstGeom>
          <a:solidFill>
            <a:srgbClr val="F7F8FC"/>
          </a:solidFill>
          <a:ln w="12700">
            <a:solidFill>
              <a:srgbClr val="DDE2EE"/>
            </a:solidFill>
            <a:prstDash val="solid"/>
          </a:ln>
        </p:spPr>
        <p:txBody>
          <a:bodyPr/>
          <a:lstStyle/>
          <a:p>
            <a:endParaRPr lang="en-US"/>
          </a:p>
        </p:txBody>
      </p:sp>
      <p:sp>
        <p:nvSpPr>
          <p:cNvPr id="12" name="Text 10"/>
          <p:cNvSpPr txBox="1"/>
          <p:nvPr/>
        </p:nvSpPr>
        <p:spPr>
          <a:xfrm>
            <a:off x="8321040" y="1645920"/>
            <a:ext cx="3017520" cy="274320"/>
          </a:xfrm>
          <a:prstGeom prst="rect">
            <a:avLst/>
          </a:prstGeom>
          <a:noFill/>
          <a:ln/>
        </p:spPr>
        <p:txBody>
          <a:bodyPr wrap="square" lIns="0" tIns="0" rIns="0" bIns="0" rtlCol="0" anchor="t"/>
          <a:lstStyle/>
          <a:p>
            <a:pPr marL="0" indent="0">
              <a:buNone/>
            </a:pPr>
            <a:r>
              <a:rPr lang="en-US" sz="1050" b="1" kern="0" spc="300">
                <a:solidFill>
                  <a:srgbClr val="273363"/>
                </a:solidFill>
                <a:latin typeface="Calibri" panose="020F0502020204030204" pitchFamily="34" charset="0"/>
                <a:ea typeface="Calibri" pitchFamily="34" charset="-122"/>
                <a:cs typeface="Calibri" pitchFamily="34" charset="-120"/>
              </a:rPr>
              <a:t>WHAT IT NEEDS</a:t>
            </a:r>
            <a:endParaRPr lang="en-US" sz="1050" b="1" dirty="0">
              <a:solidFill>
                <a:srgbClr val="273363"/>
              </a:solidFill>
              <a:latin typeface="Calibri" panose="020F0502020204030204" pitchFamily="34" charset="0"/>
            </a:endParaRPr>
          </a:p>
        </p:txBody>
      </p:sp>
      <p:sp>
        <p:nvSpPr>
          <p:cNvPr id="13" name="Text 11"/>
          <p:cNvSpPr txBox="1"/>
          <p:nvPr/>
        </p:nvSpPr>
        <p:spPr>
          <a:xfrm>
            <a:off x="8321040" y="2057400"/>
            <a:ext cx="3017520" cy="1371600"/>
          </a:xfrm>
          <a:prstGeom prst="rect">
            <a:avLst/>
          </a:prstGeom>
          <a:noFill/>
          <a:ln/>
        </p:spPr>
        <p:txBody>
          <a:bodyPr wrap="square" lIns="0" tIns="0" rIns="0" bIns="0" rtlCol="0" anchor="t"/>
          <a:lstStyle/>
          <a:p>
            <a:pPr marL="0" indent="0"/>
            <a:r>
              <a:rPr lang="en-US" sz="1420">
                <a:solidFill>
                  <a:srgbClr val="374365"/>
                </a:solidFill>
                <a:latin typeface="Calibri" panose="020F0502020204030204" pitchFamily="34" charset="0"/>
                <a:ea typeface="Calibri" pitchFamily="34" charset="-122"/>
                <a:cs typeface="Calibri" pitchFamily="34" charset="-120"/>
              </a:rPr>
              <a:t>Render web service, PostgreSQL, MongoDB, GitHub source, and protected host settings.</a:t>
            </a:r>
            <a:endParaRPr lang="en-US" sz="1420" dirty="0">
              <a:solidFill>
                <a:srgbClr val="374365"/>
              </a:solidFill>
              <a:latin typeface="Calibri" panose="020F0502020204030204" pitchFamily="34" charset="0"/>
            </a:endParaRPr>
          </a:p>
        </p:txBody>
      </p:sp>
      <p:sp>
        <p:nvSpPr>
          <p:cNvPr id="14" name="Shape 12"/>
          <p:cNvSpPr/>
          <p:nvPr/>
        </p:nvSpPr>
        <p:spPr>
          <a:xfrm>
            <a:off x="548640" y="3840480"/>
            <a:ext cx="11094415" cy="1828800"/>
          </a:xfrm>
          <a:prstGeom prst="rect">
            <a:avLst/>
          </a:prstGeom>
          <a:solidFill>
            <a:srgbClr val="121A3A"/>
          </a:solidFill>
          <a:ln w="12700">
            <a:solidFill>
              <a:srgbClr val="121A3A"/>
            </a:solidFill>
            <a:prstDash val="solid"/>
          </a:ln>
        </p:spPr>
        <p:txBody>
          <a:bodyPr/>
          <a:lstStyle/>
          <a:p>
            <a:endParaRPr lang="en-US"/>
          </a:p>
        </p:txBody>
      </p:sp>
      <p:sp>
        <p:nvSpPr>
          <p:cNvPr id="15" name="Text 13"/>
          <p:cNvSpPr txBox="1"/>
          <p:nvPr/>
        </p:nvSpPr>
        <p:spPr>
          <a:xfrm>
            <a:off x="822960" y="3977640"/>
            <a:ext cx="4572000" cy="274320"/>
          </a:xfrm>
          <a:prstGeom prst="rect">
            <a:avLst/>
          </a:prstGeom>
          <a:noFill/>
          <a:ln/>
        </p:spPr>
        <p:txBody>
          <a:bodyPr wrap="square" lIns="0" tIns="0" rIns="0" bIns="0" rtlCol="0" anchor="t"/>
          <a:lstStyle/>
          <a:p>
            <a:pPr marL="0" indent="0">
              <a:buNone/>
            </a:pPr>
            <a:r>
              <a:rPr lang="en-US" sz="1050" b="1" kern="0" spc="300">
                <a:solidFill>
                  <a:srgbClr val="CD9732"/>
                </a:solidFill>
                <a:latin typeface="Calibri" panose="020F0502020204030204" pitchFamily="34" charset="0"/>
                <a:ea typeface="Calibri" pitchFamily="34" charset="-122"/>
                <a:cs typeface="Calibri" pitchFamily="34" charset="-120"/>
              </a:rPr>
              <a:t>CURRENT PROJECT STATUS</a:t>
            </a:r>
            <a:endParaRPr lang="en-US" sz="1050" b="1" dirty="0">
              <a:solidFill>
                <a:srgbClr val="CD9732"/>
              </a:solidFill>
              <a:latin typeface="Calibri" panose="020F0502020204030204" pitchFamily="34" charset="0"/>
            </a:endParaRPr>
          </a:p>
        </p:txBody>
      </p:sp>
      <p:sp>
        <p:nvSpPr>
          <p:cNvPr id="16" name="Text 14"/>
          <p:cNvSpPr txBox="1"/>
          <p:nvPr/>
        </p:nvSpPr>
        <p:spPr>
          <a:xfrm>
            <a:off x="822960" y="4389120"/>
            <a:ext cx="3291840" cy="320040"/>
          </a:xfrm>
          <a:prstGeom prst="rect">
            <a:avLst/>
          </a:prstGeom>
          <a:noFill/>
          <a:ln/>
        </p:spPr>
        <p:txBody>
          <a:bodyPr wrap="square" lIns="0" tIns="0" rIns="0" bIns="0" rtlCol="0" anchor="t"/>
          <a:lstStyle/>
          <a:p>
            <a:pPr marL="0" indent="0">
              <a:buNone/>
            </a:pPr>
            <a:r>
              <a:rPr lang="en-US" sz="1350">
                <a:solidFill>
                  <a:srgbClr val="E6ECF8"/>
                </a:solidFill>
                <a:latin typeface="Calibri" panose="020F0502020204030204" pitchFamily="34" charset="0"/>
                <a:ea typeface="Calibri" pitchFamily="34" charset="-122"/>
                <a:cs typeface="Calibri" pitchFamily="34" charset="-120"/>
              </a:rPr>
              <a:t>Render service</a:t>
            </a:r>
            <a:endParaRPr lang="en-US" sz="1350" dirty="0">
              <a:solidFill>
                <a:srgbClr val="E6ECF8"/>
              </a:solidFill>
              <a:latin typeface="Calibri" panose="020F0502020204030204" pitchFamily="34" charset="0"/>
            </a:endParaRPr>
          </a:p>
        </p:txBody>
      </p:sp>
      <p:sp>
        <p:nvSpPr>
          <p:cNvPr id="17" name="Text 15"/>
          <p:cNvSpPr txBox="1"/>
          <p:nvPr/>
        </p:nvSpPr>
        <p:spPr>
          <a:xfrm>
            <a:off x="822960" y="4754880"/>
            <a:ext cx="3291840" cy="640080"/>
          </a:xfrm>
          <a:prstGeom prst="rect">
            <a:avLst/>
          </a:prstGeom>
          <a:noFill/>
          <a:ln/>
        </p:spPr>
        <p:txBody>
          <a:bodyPr wrap="square" lIns="0" tIns="0" rIns="0" bIns="0" rtlCol="0" anchor="t"/>
          <a:lstStyle/>
          <a:p>
            <a:pPr marL="0" indent="0">
              <a:buNone/>
            </a:pPr>
            <a:r>
              <a:rPr lang="en-US" sz="2700" b="1">
                <a:solidFill>
                  <a:srgbClr val="E6ECF8"/>
                </a:solidFill>
                <a:latin typeface="Cambria" panose="02040503050406030204" pitchFamily="18" charset="0"/>
                <a:ea typeface="Cambria" pitchFamily="34" charset="-122"/>
                <a:cs typeface="Cambria" pitchFamily="34" charset="-120"/>
              </a:rPr>
              <a:t>Live</a:t>
            </a:r>
            <a:endParaRPr lang="en-US" sz="2700" b="1" dirty="0">
              <a:solidFill>
                <a:srgbClr val="E6ECF8"/>
              </a:solidFill>
              <a:latin typeface="Cambria" panose="02040503050406030204" pitchFamily="18" charset="0"/>
            </a:endParaRPr>
          </a:p>
        </p:txBody>
      </p:sp>
      <p:sp>
        <p:nvSpPr>
          <p:cNvPr id="18" name="Text 16"/>
          <p:cNvSpPr txBox="1"/>
          <p:nvPr/>
        </p:nvSpPr>
        <p:spPr>
          <a:xfrm>
            <a:off x="4480560" y="4389120"/>
            <a:ext cx="3291840" cy="320040"/>
          </a:xfrm>
          <a:prstGeom prst="rect">
            <a:avLst/>
          </a:prstGeom>
          <a:noFill/>
          <a:ln/>
        </p:spPr>
        <p:txBody>
          <a:bodyPr wrap="square" lIns="0" tIns="0" rIns="0" bIns="0" rtlCol="0" anchor="t"/>
          <a:lstStyle/>
          <a:p>
            <a:pPr marL="0" indent="0">
              <a:buNone/>
            </a:pPr>
            <a:r>
              <a:rPr lang="en-US" sz="1350">
                <a:solidFill>
                  <a:srgbClr val="E6ECF8"/>
                </a:solidFill>
                <a:latin typeface="Calibri" panose="020F0502020204030204" pitchFamily="34" charset="0"/>
                <a:ea typeface="Calibri" pitchFamily="34" charset="-122"/>
                <a:cs typeface="Calibri" pitchFamily="34" charset="-120"/>
              </a:rPr>
              <a:t>Data stores</a:t>
            </a:r>
            <a:endParaRPr lang="en-US" sz="1350" dirty="0">
              <a:solidFill>
                <a:srgbClr val="E6ECF8"/>
              </a:solidFill>
              <a:latin typeface="Calibri" panose="020F0502020204030204" pitchFamily="34" charset="0"/>
            </a:endParaRPr>
          </a:p>
        </p:txBody>
      </p:sp>
      <p:sp>
        <p:nvSpPr>
          <p:cNvPr id="19" name="Text 17"/>
          <p:cNvSpPr txBox="1"/>
          <p:nvPr/>
        </p:nvSpPr>
        <p:spPr>
          <a:xfrm>
            <a:off x="4480560" y="4754880"/>
            <a:ext cx="3291840" cy="640080"/>
          </a:xfrm>
          <a:prstGeom prst="rect">
            <a:avLst/>
          </a:prstGeom>
          <a:noFill/>
          <a:ln/>
        </p:spPr>
        <p:txBody>
          <a:bodyPr wrap="square" lIns="0" tIns="0" rIns="0" bIns="0" rtlCol="0" anchor="t"/>
          <a:lstStyle/>
          <a:p>
            <a:pPr marL="0" indent="0">
              <a:buNone/>
            </a:pPr>
            <a:r>
              <a:rPr lang="en-US" sz="2700" b="1">
                <a:solidFill>
                  <a:srgbClr val="E6ECF8"/>
                </a:solidFill>
                <a:latin typeface="Cambria" panose="02040503050406030204" pitchFamily="18" charset="0"/>
                <a:ea typeface="Cambria" pitchFamily="34" charset="-122"/>
                <a:cs typeface="Cambria" pitchFamily="34" charset="-120"/>
              </a:rPr>
              <a:t>Both up</a:t>
            </a:r>
            <a:endParaRPr lang="en-US" sz="2700" b="1" dirty="0">
              <a:solidFill>
                <a:srgbClr val="E6ECF8"/>
              </a:solidFill>
              <a:latin typeface="Cambria" panose="02040503050406030204" pitchFamily="18" charset="0"/>
            </a:endParaRPr>
          </a:p>
        </p:txBody>
      </p:sp>
      <p:sp>
        <p:nvSpPr>
          <p:cNvPr id="20" name="Text 18"/>
          <p:cNvSpPr txBox="1"/>
          <p:nvPr/>
        </p:nvSpPr>
        <p:spPr>
          <a:xfrm>
            <a:off x="8138160" y="4389120"/>
            <a:ext cx="3291840" cy="320040"/>
          </a:xfrm>
          <a:prstGeom prst="rect">
            <a:avLst/>
          </a:prstGeom>
          <a:noFill/>
          <a:ln/>
        </p:spPr>
        <p:txBody>
          <a:bodyPr wrap="square" lIns="0" tIns="0" rIns="0" bIns="0" rtlCol="0" anchor="t"/>
          <a:lstStyle/>
          <a:p>
            <a:pPr marL="0" indent="0">
              <a:buNone/>
            </a:pPr>
            <a:r>
              <a:rPr lang="en-US" sz="1350">
                <a:solidFill>
                  <a:srgbClr val="E6ECF8"/>
                </a:solidFill>
                <a:latin typeface="Calibri" panose="020F0502020204030204" pitchFamily="34" charset="0"/>
                <a:ea typeface="Calibri" pitchFamily="34" charset="-122"/>
                <a:cs typeface="Calibri" pitchFamily="34" charset="-120"/>
              </a:rPr>
              <a:t>Robot connection</a:t>
            </a:r>
            <a:endParaRPr lang="en-US" sz="1350" dirty="0">
              <a:solidFill>
                <a:srgbClr val="E6ECF8"/>
              </a:solidFill>
              <a:latin typeface="Calibri" panose="020F0502020204030204" pitchFamily="34" charset="0"/>
            </a:endParaRPr>
          </a:p>
        </p:txBody>
      </p:sp>
      <p:sp>
        <p:nvSpPr>
          <p:cNvPr id="21" name="Text 19"/>
          <p:cNvSpPr txBox="1"/>
          <p:nvPr/>
        </p:nvSpPr>
        <p:spPr>
          <a:xfrm>
            <a:off x="8138160" y="4754880"/>
            <a:ext cx="3291840" cy="640080"/>
          </a:xfrm>
          <a:prstGeom prst="rect">
            <a:avLst/>
          </a:prstGeom>
          <a:noFill/>
          <a:ln/>
        </p:spPr>
        <p:txBody>
          <a:bodyPr wrap="square" lIns="0" tIns="0" rIns="0" bIns="0" rtlCol="0" anchor="t"/>
          <a:lstStyle/>
          <a:p>
            <a:pPr marL="0" indent="0">
              <a:buNone/>
            </a:pPr>
            <a:r>
              <a:rPr lang="en-US" sz="2700" b="1">
                <a:solidFill>
                  <a:srgbClr val="E6ECF8"/>
                </a:solidFill>
                <a:latin typeface="Cambria" panose="02040503050406030204" pitchFamily="18" charset="0"/>
                <a:ea typeface="Cambria" pitchFamily="34" charset="-122"/>
                <a:cs typeface="Cambria" pitchFamily="34" charset="-120"/>
              </a:rPr>
              <a:t>Not linked</a:t>
            </a:r>
            <a:endParaRPr lang="en-US" sz="2700" b="1" dirty="0">
              <a:solidFill>
                <a:srgbClr val="E6ECF8"/>
              </a:solidFill>
              <a:latin typeface="Cambria" panose="02040503050406030204" pitchFamily="18" charset="0"/>
            </a:endParaRPr>
          </a:p>
        </p:txBody>
      </p:sp>
      <p:sp>
        <p:nvSpPr>
          <p:cNvPr id="23" name="Text 21"/>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7  |  DEVELOPER TOOL EVIDENCE</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rPr>
              <a:t>Local development tools</a:t>
            </a:r>
            <a:endParaRPr lang="en-US" sz="3200" dirty="0"/>
          </a:p>
        </p:txBody>
      </p:sp>
      <p:sp>
        <p:nvSpPr>
          <p:cNvPr id="5" name="Shape 3"/>
          <p:cNvSpPr/>
          <p:nvPr/>
        </p:nvSpPr>
        <p:spPr>
          <a:xfrm>
            <a:off x="548640" y="1463040"/>
            <a:ext cx="5486400" cy="4206240"/>
          </a:xfrm>
          <a:prstGeom prst="roundRect">
            <a:avLst>
              <a:gd name="adj" fmla="val 1739"/>
            </a:avLst>
          </a:prstGeom>
          <a:solidFill>
            <a:srgbClr val="F7F8FC"/>
          </a:solidFill>
          <a:ln w="12700">
            <a:solidFill>
              <a:srgbClr val="DDE2EE"/>
            </a:solidFill>
            <a:prstDash val="solid"/>
          </a:ln>
        </p:spPr>
        <p:txBody>
          <a:bodyPr/>
          <a:lstStyle/>
          <a:p>
            <a:endParaRPr lang="en-US"/>
          </a:p>
        </p:txBody>
      </p:sp>
      <p:sp>
        <p:nvSpPr>
          <p:cNvPr id="6" name="Text 4"/>
          <p:cNvSpPr txBox="1"/>
          <p:nvPr/>
        </p:nvSpPr>
        <p:spPr>
          <a:xfrm>
            <a:off x="822960" y="1645920"/>
            <a:ext cx="3657600" cy="274320"/>
          </a:xfrm>
          <a:prstGeom prst="rect">
            <a:avLst/>
          </a:prstGeom>
          <a:noFill/>
          <a:ln/>
        </p:spPr>
        <p:txBody>
          <a:bodyPr wrap="square" lIns="0" tIns="0" rIns="0" bIns="0" rtlCol="0" anchor="t"/>
          <a:lstStyle/>
          <a:p>
            <a:pPr marL="0" indent="0">
              <a:buNone/>
            </a:pPr>
            <a:r>
              <a:rPr lang="en-US" sz="1050" b="1">
                <a:solidFill>
                  <a:srgbClr val="CD9732"/>
                </a:solidFill>
                <a:latin typeface="Calibri" panose="020F0502020204030204" pitchFamily="34" charset="0"/>
              </a:rPr>
              <a:t>POSTMAN LOCAL MODE</a:t>
            </a:r>
            <a:endParaRPr lang="en-US" sz="1050" b="1" dirty="0">
              <a:solidFill>
                <a:srgbClr val="CD9732"/>
              </a:solidFill>
              <a:latin typeface="Calibri" panose="020F0502020204030204" pitchFamily="34" charset="0"/>
            </a:endParaRPr>
          </a:p>
        </p:txBody>
      </p:sp>
      <p:sp>
        <p:nvSpPr>
          <p:cNvPr id="8" name="Shape 6"/>
          <p:cNvSpPr/>
          <p:nvPr/>
        </p:nvSpPr>
        <p:spPr>
          <a:xfrm>
            <a:off x="6336792" y="1463040"/>
            <a:ext cx="5303520" cy="4206240"/>
          </a:xfrm>
          <a:prstGeom prst="roundRect">
            <a:avLst>
              <a:gd name="adj" fmla="val 1739"/>
            </a:avLst>
          </a:prstGeom>
          <a:solidFill>
            <a:srgbClr val="FBF6EC"/>
          </a:solidFill>
          <a:ln w="12700">
            <a:solidFill>
              <a:srgbClr val="E8DCC0"/>
            </a:solidFill>
            <a:prstDash val="solid"/>
          </a:ln>
        </p:spPr>
        <p:txBody>
          <a:bodyPr/>
          <a:lstStyle/>
          <a:p>
            <a:endParaRPr lang="en-US"/>
          </a:p>
        </p:txBody>
      </p:sp>
      <p:sp>
        <p:nvSpPr>
          <p:cNvPr id="9" name="Text 7"/>
          <p:cNvSpPr txBox="1"/>
          <p:nvPr/>
        </p:nvSpPr>
        <p:spPr>
          <a:xfrm>
            <a:off x="6611112" y="1645920"/>
            <a:ext cx="4572000" cy="274320"/>
          </a:xfrm>
          <a:prstGeom prst="rect">
            <a:avLst/>
          </a:prstGeom>
          <a:noFill/>
          <a:ln/>
        </p:spPr>
        <p:txBody>
          <a:bodyPr wrap="square" lIns="0" tIns="0" rIns="0" bIns="0" rtlCol="0" anchor="t"/>
          <a:lstStyle/>
          <a:p>
            <a:pPr marL="0" indent="0">
              <a:buNone/>
            </a:pPr>
            <a:r>
              <a:rPr lang="en-US" sz="1050" b="1">
                <a:solidFill>
                  <a:srgbClr val="273363"/>
                </a:solidFill>
                <a:latin typeface="Calibri" panose="020F0502020204030204" pitchFamily="34" charset="0"/>
              </a:rPr>
              <a:t>POSTGRESQL IN DBEAVER</a:t>
            </a:r>
            <a:endParaRPr lang="en-US" sz="1050" b="1" dirty="0">
              <a:solidFill>
                <a:srgbClr val="273363"/>
              </a:solidFill>
              <a:latin typeface="Calibri" panose="020F0502020204030204" pitchFamily="34" charset="0"/>
            </a:endParaRPr>
          </a:p>
        </p:txBody>
      </p:sp>
      <p:sp>
        <p:nvSpPr>
          <p:cNvPr id="10" name="Text 8"/>
          <p:cNvSpPr txBox="1"/>
          <p:nvPr/>
        </p:nvSpPr>
        <p:spPr>
          <a:xfrm>
            <a:off x="6611112" y="2011680"/>
            <a:ext cx="4754880" cy="3474720"/>
          </a:xfrm>
          <a:prstGeom prst="rect">
            <a:avLst/>
          </a:prstGeom>
          <a:noFill/>
          <a:ln/>
        </p:spPr>
        <p:txBody>
          <a:bodyPr wrap="square" lIns="0" tIns="0" rIns="0" bIns="0" rtlCol="0" anchor="t"/>
          <a:lstStyle/>
          <a:p>
            <a:pPr marL="0" indent="0">
              <a:buNone/>
            </a:pPr>
            <a:endParaRPr lang="en-US" sz="1600" dirty="0"/>
          </a:p>
        </p:txBody>
      </p:sp>
      <p:sp>
        <p:nvSpPr>
          <p:cNvPr id="12" name="Text 1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8</a:t>
            </a:r>
            <a:endParaRPr lang="en-US" sz="900" dirty="0"/>
          </a:p>
        </p:txBody>
      </p:sp>
      <p:pic>
        <p:nvPicPr>
          <p:cNvPr id="11" name="Picture 10">
            <a:extLst>
              <a:ext uri="{FF2B5EF4-FFF2-40B4-BE49-F238E27FC236}">
                <a16:creationId xmlns:a16="http://schemas.microsoft.com/office/drawing/2014/main" id="{6E85B4DE-58CB-34BF-482C-3831501351CF}"/>
              </a:ext>
            </a:extLst>
          </p:cNvPr>
          <p:cNvPicPr>
            <a:picLocks/>
          </p:cNvPicPr>
          <p:nvPr/>
        </p:nvPicPr>
        <p:blipFill>
          <a:blip r:embed="rId3"/>
          <a:stretch>
            <a:fillRect/>
          </a:stretch>
        </p:blipFill>
        <p:spPr>
          <a:xfrm>
            <a:off x="685800" y="2034381"/>
            <a:ext cx="5207000" cy="2928938"/>
          </a:xfrm>
          <a:prstGeom prst="rect">
            <a:avLst/>
          </a:prstGeom>
        </p:spPr>
      </p:pic>
      <p:sp>
        <p:nvSpPr>
          <p:cNvPr id="13" name="TextBox 12">
            <a:extLst>
              <a:ext uri="{FF2B5EF4-FFF2-40B4-BE49-F238E27FC236}">
                <a16:creationId xmlns:a16="http://schemas.microsoft.com/office/drawing/2014/main" id="{F4217A2E-797B-795F-FE69-CD47409DDE07}"/>
              </a:ext>
            </a:extLst>
          </p:cNvPr>
          <p:cNvSpPr txBox="1"/>
          <p:nvPr/>
        </p:nvSpPr>
        <p:spPr>
          <a:xfrm>
            <a:off x="825500" y="5143500"/>
            <a:ext cx="4953000" cy="323165"/>
          </a:xfrm>
          <a:prstGeom prst="rect">
            <a:avLst/>
          </a:prstGeom>
          <a:noFill/>
        </p:spPr>
        <p:txBody>
          <a:bodyPr vert="horz" wrap="square" lIns="0" tIns="0" rIns="0" bIns="0" rtlCol="0">
            <a:spAutoFit/>
          </a:bodyPr>
          <a:lstStyle/>
          <a:p>
            <a:r>
              <a:rPr lang="en-US" sz="1050">
                <a:solidFill>
                  <a:srgbClr val="374365"/>
                </a:solidFill>
                <a:latin typeface="Calibri" panose="020F0502020204030204" pitchFamily="34" charset="0"/>
              </a:rPr>
              <a:t>The Postman workspace contains the Robot Control Backend health requests and local environment.</a:t>
            </a:r>
          </a:p>
        </p:txBody>
      </p:sp>
      <p:pic>
        <p:nvPicPr>
          <p:cNvPr id="15" name="Picture 14">
            <a:extLst>
              <a:ext uri="{FF2B5EF4-FFF2-40B4-BE49-F238E27FC236}">
                <a16:creationId xmlns:a16="http://schemas.microsoft.com/office/drawing/2014/main" id="{D7077613-DD15-B87A-2D8B-D67BBBE23017}"/>
              </a:ext>
            </a:extLst>
          </p:cNvPr>
          <p:cNvPicPr>
            <a:picLocks/>
          </p:cNvPicPr>
          <p:nvPr/>
        </p:nvPicPr>
        <p:blipFill>
          <a:blip r:embed="rId4"/>
          <a:stretch>
            <a:fillRect/>
          </a:stretch>
        </p:blipFill>
        <p:spPr>
          <a:xfrm>
            <a:off x="6477000" y="1973659"/>
            <a:ext cx="5016500" cy="2821781"/>
          </a:xfrm>
          <a:prstGeom prst="rect">
            <a:avLst/>
          </a:prstGeom>
        </p:spPr>
      </p:pic>
      <p:sp>
        <p:nvSpPr>
          <p:cNvPr id="16" name="TextBox 15">
            <a:extLst>
              <a:ext uri="{FF2B5EF4-FFF2-40B4-BE49-F238E27FC236}">
                <a16:creationId xmlns:a16="http://schemas.microsoft.com/office/drawing/2014/main" id="{BC7A214E-0626-F042-EF7E-A60F16176FC1}"/>
              </a:ext>
            </a:extLst>
          </p:cNvPr>
          <p:cNvSpPr txBox="1"/>
          <p:nvPr/>
        </p:nvSpPr>
        <p:spPr>
          <a:xfrm>
            <a:off x="6604000" y="4914900"/>
            <a:ext cx="4749800" cy="323165"/>
          </a:xfrm>
          <a:prstGeom prst="rect">
            <a:avLst/>
          </a:prstGeom>
          <a:noFill/>
        </p:spPr>
        <p:txBody>
          <a:bodyPr vert="horz" wrap="square" lIns="0" tIns="0" rIns="0" bIns="0" rtlCol="0">
            <a:spAutoFit/>
          </a:bodyPr>
          <a:lstStyle/>
          <a:p>
            <a:r>
              <a:rPr lang="en-US" sz="1050">
                <a:solidFill>
                  <a:srgbClr val="374365"/>
                </a:solidFill>
                <a:latin typeface="Calibri" panose="020F0502020204030204" pitchFamily="34" charset="0"/>
              </a:rPr>
              <a:t>DBeaver shows a successful read-only SELECT 1 result on the local PostgreSQL connection.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8  |  CLOUD DEPLOYMENT EVIDENCE</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rPr>
              <a:t>Live cloud deployment</a:t>
            </a:r>
            <a:endParaRPr lang="en-US" sz="3200" dirty="0"/>
          </a:p>
        </p:txBody>
      </p:sp>
      <p:sp>
        <p:nvSpPr>
          <p:cNvPr id="5" name="Shape 3"/>
          <p:cNvSpPr/>
          <p:nvPr/>
        </p:nvSpPr>
        <p:spPr>
          <a:xfrm>
            <a:off x="548640" y="1463040"/>
            <a:ext cx="5486400" cy="4206240"/>
          </a:xfrm>
          <a:prstGeom prst="roundRect">
            <a:avLst>
              <a:gd name="adj" fmla="val 1739"/>
            </a:avLst>
          </a:prstGeom>
          <a:solidFill>
            <a:srgbClr val="F7F8FC"/>
          </a:solidFill>
          <a:ln w="12700">
            <a:solidFill>
              <a:srgbClr val="DDE2EE"/>
            </a:solidFill>
            <a:prstDash val="solid"/>
          </a:ln>
        </p:spPr>
        <p:txBody>
          <a:bodyPr/>
          <a:lstStyle/>
          <a:p>
            <a:endParaRPr lang="en-US"/>
          </a:p>
        </p:txBody>
      </p:sp>
      <p:sp>
        <p:nvSpPr>
          <p:cNvPr id="6" name="Text 4"/>
          <p:cNvSpPr txBox="1"/>
          <p:nvPr/>
        </p:nvSpPr>
        <p:spPr>
          <a:xfrm>
            <a:off x="822960" y="1645920"/>
            <a:ext cx="3657600" cy="274320"/>
          </a:xfrm>
          <a:prstGeom prst="rect">
            <a:avLst/>
          </a:prstGeom>
          <a:noFill/>
          <a:ln/>
        </p:spPr>
        <p:txBody>
          <a:bodyPr wrap="square" lIns="0" tIns="0" rIns="0" bIns="0" rtlCol="0" anchor="t"/>
          <a:lstStyle/>
          <a:p>
            <a:pPr marL="0" indent="0">
              <a:buNone/>
            </a:pPr>
            <a:r>
              <a:rPr lang="en-US" sz="1050" b="1">
                <a:solidFill>
                  <a:srgbClr val="CD9732"/>
                </a:solidFill>
                <a:latin typeface="Calibri" panose="020F0502020204030204" pitchFamily="34" charset="0"/>
              </a:rPr>
              <a:t>RENDER WEB SERVICE</a:t>
            </a:r>
            <a:endParaRPr lang="en-US" sz="1050" b="1" dirty="0">
              <a:solidFill>
                <a:srgbClr val="CD9732"/>
              </a:solidFill>
              <a:latin typeface="Calibri" panose="020F0502020204030204" pitchFamily="34" charset="0"/>
            </a:endParaRPr>
          </a:p>
        </p:txBody>
      </p:sp>
      <p:sp>
        <p:nvSpPr>
          <p:cNvPr id="8" name="Shape 6"/>
          <p:cNvSpPr/>
          <p:nvPr/>
        </p:nvSpPr>
        <p:spPr>
          <a:xfrm>
            <a:off x="6336792" y="1463040"/>
            <a:ext cx="5303520" cy="4206240"/>
          </a:xfrm>
          <a:prstGeom prst="roundRect">
            <a:avLst>
              <a:gd name="adj" fmla="val 1739"/>
            </a:avLst>
          </a:prstGeom>
          <a:solidFill>
            <a:srgbClr val="FBF6EC"/>
          </a:solidFill>
          <a:ln w="12700">
            <a:solidFill>
              <a:srgbClr val="E8DCC0"/>
            </a:solidFill>
            <a:prstDash val="solid"/>
          </a:ln>
        </p:spPr>
        <p:txBody>
          <a:bodyPr/>
          <a:lstStyle/>
          <a:p>
            <a:endParaRPr lang="en-US"/>
          </a:p>
        </p:txBody>
      </p:sp>
      <p:sp>
        <p:nvSpPr>
          <p:cNvPr id="9" name="Text 7"/>
          <p:cNvSpPr txBox="1"/>
          <p:nvPr/>
        </p:nvSpPr>
        <p:spPr>
          <a:xfrm>
            <a:off x="6611112" y="1645920"/>
            <a:ext cx="4572000" cy="274320"/>
          </a:xfrm>
          <a:prstGeom prst="rect">
            <a:avLst/>
          </a:prstGeom>
          <a:noFill/>
          <a:ln/>
        </p:spPr>
        <p:txBody>
          <a:bodyPr wrap="square" lIns="0" tIns="0" rIns="0" bIns="0" rtlCol="0" anchor="t"/>
          <a:lstStyle/>
          <a:p>
            <a:pPr marL="0" indent="0">
              <a:buNone/>
            </a:pPr>
            <a:r>
              <a:rPr lang="en-US" sz="1050" b="1">
                <a:solidFill>
                  <a:srgbClr val="273363"/>
                </a:solidFill>
                <a:latin typeface="Calibri" panose="020F0502020204030204" pitchFamily="34" charset="0"/>
              </a:rPr>
              <a:t>MONGODB ATLAS NETWORK ACCESS</a:t>
            </a:r>
            <a:endParaRPr lang="en-US" sz="1050" b="1" dirty="0">
              <a:solidFill>
                <a:srgbClr val="273363"/>
              </a:solidFill>
              <a:latin typeface="Calibri" panose="020F0502020204030204" pitchFamily="34" charset="0"/>
            </a:endParaRPr>
          </a:p>
        </p:txBody>
      </p:sp>
      <p:sp>
        <p:nvSpPr>
          <p:cNvPr id="10" name="Text 8"/>
          <p:cNvSpPr txBox="1"/>
          <p:nvPr/>
        </p:nvSpPr>
        <p:spPr>
          <a:xfrm>
            <a:off x="6611112" y="2011680"/>
            <a:ext cx="4754880" cy="3474720"/>
          </a:xfrm>
          <a:prstGeom prst="rect">
            <a:avLst/>
          </a:prstGeom>
          <a:noFill/>
          <a:ln/>
        </p:spPr>
        <p:txBody>
          <a:bodyPr wrap="square" lIns="0" tIns="0" rIns="0" bIns="0" rtlCol="0" anchor="t"/>
          <a:lstStyle/>
          <a:p>
            <a:pPr marL="0" indent="0">
              <a:buNone/>
            </a:pPr>
            <a:endParaRPr lang="en-US" sz="1600" dirty="0"/>
          </a:p>
        </p:txBody>
      </p:sp>
      <p:sp>
        <p:nvSpPr>
          <p:cNvPr id="12" name="Text 1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9</a:t>
            </a:r>
            <a:endParaRPr lang="en-US" sz="900" dirty="0"/>
          </a:p>
        </p:txBody>
      </p:sp>
      <p:pic>
        <p:nvPicPr>
          <p:cNvPr id="11" name="Picture 10">
            <a:extLst>
              <a:ext uri="{FF2B5EF4-FFF2-40B4-BE49-F238E27FC236}">
                <a16:creationId xmlns:a16="http://schemas.microsoft.com/office/drawing/2014/main" id="{0EA94B51-DA94-68B2-543F-B5C9777C9E8C}"/>
              </a:ext>
            </a:extLst>
          </p:cNvPr>
          <p:cNvPicPr>
            <a:picLocks/>
          </p:cNvPicPr>
          <p:nvPr/>
        </p:nvPicPr>
        <p:blipFill>
          <a:blip r:embed="rId3"/>
          <a:stretch>
            <a:fillRect/>
          </a:stretch>
        </p:blipFill>
        <p:spPr>
          <a:xfrm>
            <a:off x="685800" y="2049462"/>
            <a:ext cx="5207000" cy="2581277"/>
          </a:xfrm>
          <a:prstGeom prst="rect">
            <a:avLst/>
          </a:prstGeom>
        </p:spPr>
      </p:pic>
      <p:sp>
        <p:nvSpPr>
          <p:cNvPr id="13" name="TextBox 12">
            <a:extLst>
              <a:ext uri="{FF2B5EF4-FFF2-40B4-BE49-F238E27FC236}">
                <a16:creationId xmlns:a16="http://schemas.microsoft.com/office/drawing/2014/main" id="{485BE409-0C33-F1B8-D3C0-05370E12A785}"/>
              </a:ext>
            </a:extLst>
          </p:cNvPr>
          <p:cNvSpPr txBox="1"/>
          <p:nvPr/>
        </p:nvSpPr>
        <p:spPr>
          <a:xfrm>
            <a:off x="825500" y="4813300"/>
            <a:ext cx="4953000" cy="323165"/>
          </a:xfrm>
          <a:prstGeom prst="rect">
            <a:avLst/>
          </a:prstGeom>
          <a:noFill/>
        </p:spPr>
        <p:txBody>
          <a:bodyPr vert="horz" wrap="square" lIns="0" tIns="0" rIns="0" bIns="0" rtlCol="0">
            <a:spAutoFit/>
          </a:bodyPr>
          <a:lstStyle/>
          <a:p>
            <a:r>
              <a:rPr lang="en-US" sz="1050">
                <a:solidFill>
                  <a:srgbClr val="374365"/>
                </a:solidFill>
                <a:latin typeface="Calibri" panose="020F0502020204030204" pitchFamily="34" charset="0"/>
              </a:rPr>
              <a:t>Render shows robot-control-backend as Live. Frankfurt outbound ranges: 74.220.51.0/24 and 74.220.59.0/24.</a:t>
            </a:r>
          </a:p>
        </p:txBody>
      </p:sp>
      <p:sp>
        <p:nvSpPr>
          <p:cNvPr id="16" name="TextBox 15">
            <a:extLst>
              <a:ext uri="{FF2B5EF4-FFF2-40B4-BE49-F238E27FC236}">
                <a16:creationId xmlns:a16="http://schemas.microsoft.com/office/drawing/2014/main" id="{98D9EC15-B697-3D65-D783-98AD68E2E3E1}"/>
              </a:ext>
            </a:extLst>
          </p:cNvPr>
          <p:cNvSpPr txBox="1"/>
          <p:nvPr/>
        </p:nvSpPr>
        <p:spPr>
          <a:xfrm>
            <a:off x="6604000" y="4813300"/>
            <a:ext cx="4749800" cy="161583"/>
          </a:xfrm>
          <a:prstGeom prst="rect">
            <a:avLst/>
          </a:prstGeom>
          <a:noFill/>
        </p:spPr>
        <p:txBody>
          <a:bodyPr vert="horz" wrap="square" lIns="0" tIns="0" rIns="0" bIns="0" rtlCol="0">
            <a:spAutoFit/>
          </a:bodyPr>
          <a:lstStyle/>
          <a:p>
            <a:r>
              <a:rPr lang="en-US" sz="1050">
                <a:solidFill>
                  <a:srgbClr val="374365"/>
                </a:solidFill>
                <a:latin typeface="Calibri" panose="020F0502020204030204" pitchFamily="34" charset="0"/>
              </a:rPr>
              <a:t>Atlas shows the laptop entry and both Render ranges as Active.</a:t>
            </a:r>
          </a:p>
        </p:txBody>
      </p:sp>
      <p:pic>
        <p:nvPicPr>
          <p:cNvPr id="14" name="Picture 13">
            <a:extLst>
              <a:ext uri="{FF2B5EF4-FFF2-40B4-BE49-F238E27FC236}">
                <a16:creationId xmlns:a16="http://schemas.microsoft.com/office/drawing/2014/main" id="{F866FCD8-2914-304F-90B9-893FF8E2ECA4}"/>
              </a:ext>
            </a:extLst>
          </p:cNvPr>
          <p:cNvPicPr>
            <a:picLocks/>
          </p:cNvPicPr>
          <p:nvPr/>
        </p:nvPicPr>
        <p:blipFill>
          <a:blip r:embed="rId4"/>
          <a:stretch>
            <a:fillRect/>
          </a:stretch>
        </p:blipFill>
        <p:spPr>
          <a:xfrm>
            <a:off x="6478120" y="2146300"/>
            <a:ext cx="5014260" cy="2374900"/>
          </a:xfrm>
          <a:prstGeom prst="rect">
            <a:avLst/>
          </a:prstGeom>
        </p:spPr>
      </p:pic>
    </p:spTree>
    <p:extLst>
      <p:ext uri="{BB962C8B-B14F-4D97-AF65-F5344CB8AC3E}">
        <p14:creationId xmlns:p14="http://schemas.microsoft.com/office/powerpoint/2010/main" val="2347183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9  |  LIVE API RESULTS</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rPr>
              <a:t>Production test results</a:t>
            </a:r>
            <a:endParaRPr lang="en-US" sz="3200" dirty="0"/>
          </a:p>
        </p:txBody>
      </p:sp>
      <p:sp>
        <p:nvSpPr>
          <p:cNvPr id="5" name="Shape 3"/>
          <p:cNvSpPr/>
          <p:nvPr/>
        </p:nvSpPr>
        <p:spPr>
          <a:xfrm>
            <a:off x="548640" y="1463040"/>
            <a:ext cx="5486400" cy="4206240"/>
          </a:xfrm>
          <a:prstGeom prst="roundRect">
            <a:avLst>
              <a:gd name="adj" fmla="val 1739"/>
            </a:avLst>
          </a:prstGeom>
          <a:solidFill>
            <a:srgbClr val="F7F8FC"/>
          </a:solidFill>
          <a:ln w="12700">
            <a:solidFill>
              <a:srgbClr val="DDE2EE"/>
            </a:solidFill>
            <a:prstDash val="solid"/>
          </a:ln>
        </p:spPr>
        <p:txBody>
          <a:bodyPr/>
          <a:lstStyle/>
          <a:p>
            <a:endParaRPr lang="en-US"/>
          </a:p>
        </p:txBody>
      </p:sp>
      <p:sp>
        <p:nvSpPr>
          <p:cNvPr id="6" name="Text 4"/>
          <p:cNvSpPr txBox="1"/>
          <p:nvPr/>
        </p:nvSpPr>
        <p:spPr>
          <a:xfrm>
            <a:off x="822960" y="1645920"/>
            <a:ext cx="3657600" cy="274320"/>
          </a:xfrm>
          <a:prstGeom prst="rect">
            <a:avLst/>
          </a:prstGeom>
          <a:noFill/>
          <a:ln/>
        </p:spPr>
        <p:txBody>
          <a:bodyPr wrap="square" lIns="0" tIns="0" rIns="0" bIns="0" rtlCol="0" anchor="t"/>
          <a:lstStyle/>
          <a:p>
            <a:pPr marL="0" indent="0">
              <a:buNone/>
            </a:pPr>
            <a:r>
              <a:rPr lang="en-US" sz="1050" b="1">
                <a:solidFill>
                  <a:srgbClr val="CD9732"/>
                </a:solidFill>
                <a:latin typeface="Calibri" panose="020F0502020204030204" pitchFamily="34" charset="0"/>
              </a:rPr>
              <a:t>OVERALL LIVE RUN</a:t>
            </a:r>
            <a:endParaRPr lang="en-US" sz="1050" b="1" dirty="0">
              <a:solidFill>
                <a:srgbClr val="CD9732"/>
              </a:solidFill>
              <a:latin typeface="Calibri" panose="020F0502020204030204" pitchFamily="34" charset="0"/>
            </a:endParaRPr>
          </a:p>
        </p:txBody>
      </p:sp>
      <p:sp>
        <p:nvSpPr>
          <p:cNvPr id="8" name="Shape 6"/>
          <p:cNvSpPr/>
          <p:nvPr/>
        </p:nvSpPr>
        <p:spPr>
          <a:xfrm>
            <a:off x="6336792" y="1463040"/>
            <a:ext cx="5303520" cy="4206240"/>
          </a:xfrm>
          <a:prstGeom prst="roundRect">
            <a:avLst>
              <a:gd name="adj" fmla="val 1739"/>
            </a:avLst>
          </a:prstGeom>
          <a:solidFill>
            <a:srgbClr val="FBF6EC"/>
          </a:solidFill>
          <a:ln w="12700">
            <a:solidFill>
              <a:srgbClr val="E8DCC0"/>
            </a:solidFill>
            <a:prstDash val="solid"/>
          </a:ln>
        </p:spPr>
        <p:txBody>
          <a:bodyPr/>
          <a:lstStyle/>
          <a:p>
            <a:endParaRPr lang="en-US"/>
          </a:p>
        </p:txBody>
      </p:sp>
      <p:sp>
        <p:nvSpPr>
          <p:cNvPr id="9" name="Text 7"/>
          <p:cNvSpPr txBox="1"/>
          <p:nvPr/>
        </p:nvSpPr>
        <p:spPr>
          <a:xfrm>
            <a:off x="6611112" y="1645920"/>
            <a:ext cx="4572000" cy="274320"/>
          </a:xfrm>
          <a:prstGeom prst="rect">
            <a:avLst/>
          </a:prstGeom>
          <a:noFill/>
          <a:ln/>
        </p:spPr>
        <p:txBody>
          <a:bodyPr wrap="square" lIns="0" tIns="0" rIns="0" bIns="0" rtlCol="0" anchor="t"/>
          <a:lstStyle/>
          <a:p>
            <a:pPr marL="0" indent="0">
              <a:buNone/>
            </a:pPr>
            <a:r>
              <a:rPr lang="en-US" sz="1050" b="1">
                <a:solidFill>
                  <a:srgbClr val="273363"/>
                </a:solidFill>
                <a:latin typeface="Calibri" panose="020F0502020204030204" pitchFamily="34" charset="0"/>
              </a:rPr>
              <a:t>SERVICE HEALTH</a:t>
            </a:r>
            <a:endParaRPr lang="en-US" sz="1050" b="1" dirty="0">
              <a:solidFill>
                <a:srgbClr val="273363"/>
              </a:solidFill>
              <a:latin typeface="Calibri" panose="020F0502020204030204" pitchFamily="34" charset="0"/>
            </a:endParaRPr>
          </a:p>
        </p:txBody>
      </p:sp>
      <p:sp>
        <p:nvSpPr>
          <p:cNvPr id="10" name="Text 8"/>
          <p:cNvSpPr txBox="1"/>
          <p:nvPr/>
        </p:nvSpPr>
        <p:spPr>
          <a:xfrm>
            <a:off x="6611112" y="2011680"/>
            <a:ext cx="4754880" cy="3474720"/>
          </a:xfrm>
          <a:prstGeom prst="rect">
            <a:avLst/>
          </a:prstGeom>
          <a:noFill/>
          <a:ln/>
        </p:spPr>
        <p:txBody>
          <a:bodyPr wrap="square" lIns="0" tIns="0" rIns="0" bIns="0" rtlCol="0" anchor="t"/>
          <a:lstStyle/>
          <a:p>
            <a:pPr marL="0" indent="0">
              <a:buNone/>
            </a:pPr>
            <a:endParaRPr lang="en-US" sz="1600" dirty="0"/>
          </a:p>
        </p:txBody>
      </p:sp>
      <p:sp>
        <p:nvSpPr>
          <p:cNvPr id="12" name="Text 1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10</a:t>
            </a:r>
            <a:endParaRPr lang="en-US" sz="900" dirty="0"/>
          </a:p>
        </p:txBody>
      </p:sp>
      <p:pic>
        <p:nvPicPr>
          <p:cNvPr id="14" name="Picture 13">
            <a:extLst>
              <a:ext uri="{FF2B5EF4-FFF2-40B4-BE49-F238E27FC236}">
                <a16:creationId xmlns:a16="http://schemas.microsoft.com/office/drawing/2014/main" id="{66F57BB1-F43C-4ED4-FB56-A66C9E53A130}"/>
              </a:ext>
            </a:extLst>
          </p:cNvPr>
          <p:cNvPicPr>
            <a:picLocks/>
          </p:cNvPicPr>
          <p:nvPr/>
        </p:nvPicPr>
        <p:blipFill>
          <a:blip r:embed="rId3"/>
          <a:stretch>
            <a:fillRect/>
          </a:stretch>
        </p:blipFill>
        <p:spPr>
          <a:xfrm>
            <a:off x="685800" y="2034381"/>
            <a:ext cx="5207000" cy="2928938"/>
          </a:xfrm>
          <a:prstGeom prst="rect">
            <a:avLst/>
          </a:prstGeom>
        </p:spPr>
      </p:pic>
      <p:sp>
        <p:nvSpPr>
          <p:cNvPr id="17" name="TextBox 16">
            <a:extLst>
              <a:ext uri="{FF2B5EF4-FFF2-40B4-BE49-F238E27FC236}">
                <a16:creationId xmlns:a16="http://schemas.microsoft.com/office/drawing/2014/main" id="{5EA3F681-63C8-5DF7-413F-B4F26342BDE6}"/>
              </a:ext>
            </a:extLst>
          </p:cNvPr>
          <p:cNvSpPr txBox="1"/>
          <p:nvPr/>
        </p:nvSpPr>
        <p:spPr>
          <a:xfrm>
            <a:off x="825500" y="5143500"/>
            <a:ext cx="4953000" cy="323165"/>
          </a:xfrm>
          <a:prstGeom prst="rect">
            <a:avLst/>
          </a:prstGeom>
          <a:noFill/>
        </p:spPr>
        <p:txBody>
          <a:bodyPr vert="horz" wrap="square" lIns="0" tIns="0" rIns="0" bIns="0" rtlCol="0">
            <a:spAutoFit/>
          </a:bodyPr>
          <a:lstStyle/>
          <a:p>
            <a:r>
              <a:rPr lang="en-US" sz="1050">
                <a:solidFill>
                  <a:srgbClr val="374365"/>
                </a:solidFill>
                <a:latin typeface="Calibri" panose="020F0502020204030204" pitchFamily="34" charset="0"/>
              </a:rPr>
              <a:t>22 of 22 live checks passed against the Render production service. Synthetic test records were used; the session was closed.</a:t>
            </a:r>
          </a:p>
        </p:txBody>
      </p:sp>
      <p:pic>
        <p:nvPicPr>
          <p:cNvPr id="19" name="Picture 18">
            <a:extLst>
              <a:ext uri="{FF2B5EF4-FFF2-40B4-BE49-F238E27FC236}">
                <a16:creationId xmlns:a16="http://schemas.microsoft.com/office/drawing/2014/main" id="{51AC2745-0995-3747-12A5-821E6E78AEEA}"/>
              </a:ext>
            </a:extLst>
          </p:cNvPr>
          <p:cNvPicPr>
            <a:picLocks/>
          </p:cNvPicPr>
          <p:nvPr/>
        </p:nvPicPr>
        <p:blipFill>
          <a:blip r:embed="rId4"/>
          <a:stretch>
            <a:fillRect/>
          </a:stretch>
        </p:blipFill>
        <p:spPr>
          <a:xfrm>
            <a:off x="6479117" y="1968500"/>
            <a:ext cx="5012267" cy="2819400"/>
          </a:xfrm>
          <a:prstGeom prst="rect">
            <a:avLst/>
          </a:prstGeom>
        </p:spPr>
      </p:pic>
      <p:sp>
        <p:nvSpPr>
          <p:cNvPr id="20" name="TextBox 19">
            <a:extLst>
              <a:ext uri="{FF2B5EF4-FFF2-40B4-BE49-F238E27FC236}">
                <a16:creationId xmlns:a16="http://schemas.microsoft.com/office/drawing/2014/main" id="{135099CB-41E0-AD34-0FB8-B61C806793BB}"/>
              </a:ext>
            </a:extLst>
          </p:cNvPr>
          <p:cNvSpPr txBox="1"/>
          <p:nvPr/>
        </p:nvSpPr>
        <p:spPr>
          <a:xfrm>
            <a:off x="6604000" y="4914900"/>
            <a:ext cx="4749800" cy="323165"/>
          </a:xfrm>
          <a:prstGeom prst="rect">
            <a:avLst/>
          </a:prstGeom>
          <a:noFill/>
        </p:spPr>
        <p:txBody>
          <a:bodyPr vert="horz" wrap="square" lIns="0" tIns="0" rIns="0" bIns="0" rtlCol="0">
            <a:spAutoFit/>
          </a:bodyPr>
          <a:lstStyle/>
          <a:p>
            <a:r>
              <a:rPr lang="en-US" sz="1050">
                <a:solidFill>
                  <a:srgbClr val="374365"/>
                </a:solidFill>
                <a:latin typeface="Calibri" panose="020F0502020204030204" pitchFamily="34" charset="0"/>
              </a:rPr>
              <a:t>Public page, liveness, and readiness returned HTTP 200. Readiness reported PostgreSQL and MongoDB up.</a:t>
            </a:r>
          </a:p>
        </p:txBody>
      </p:sp>
    </p:spTree>
    <p:extLst>
      <p:ext uri="{BB962C8B-B14F-4D97-AF65-F5344CB8AC3E}">
        <p14:creationId xmlns:p14="http://schemas.microsoft.com/office/powerpoint/2010/main" val="370590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10  |  AUTH AND REST</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rPr>
              <a:t>Authentication and event history</a:t>
            </a:r>
            <a:endParaRPr lang="en-US" sz="3200" dirty="0"/>
          </a:p>
        </p:txBody>
      </p:sp>
      <p:sp>
        <p:nvSpPr>
          <p:cNvPr id="5" name="Shape 3"/>
          <p:cNvSpPr/>
          <p:nvPr/>
        </p:nvSpPr>
        <p:spPr>
          <a:xfrm>
            <a:off x="548640" y="1463040"/>
            <a:ext cx="5486400" cy="4206240"/>
          </a:xfrm>
          <a:prstGeom prst="roundRect">
            <a:avLst>
              <a:gd name="adj" fmla="val 1739"/>
            </a:avLst>
          </a:prstGeom>
          <a:solidFill>
            <a:srgbClr val="F7F8FC"/>
          </a:solidFill>
          <a:ln w="12700">
            <a:solidFill>
              <a:srgbClr val="DDE2EE"/>
            </a:solidFill>
            <a:prstDash val="solid"/>
          </a:ln>
        </p:spPr>
        <p:txBody>
          <a:bodyPr/>
          <a:lstStyle/>
          <a:p>
            <a:endParaRPr lang="en-US"/>
          </a:p>
        </p:txBody>
      </p:sp>
      <p:sp>
        <p:nvSpPr>
          <p:cNvPr id="6" name="Text 4"/>
          <p:cNvSpPr txBox="1"/>
          <p:nvPr/>
        </p:nvSpPr>
        <p:spPr>
          <a:xfrm>
            <a:off x="822960" y="1645920"/>
            <a:ext cx="3657600" cy="274320"/>
          </a:xfrm>
          <a:prstGeom prst="rect">
            <a:avLst/>
          </a:prstGeom>
          <a:noFill/>
          <a:ln/>
        </p:spPr>
        <p:txBody>
          <a:bodyPr wrap="square" lIns="0" tIns="0" rIns="0" bIns="0" rtlCol="0" anchor="t"/>
          <a:lstStyle/>
          <a:p>
            <a:pPr marL="0" indent="0">
              <a:buNone/>
            </a:pPr>
            <a:r>
              <a:rPr lang="en-US" sz="1050" b="1">
                <a:solidFill>
                  <a:srgbClr val="CD9732"/>
                </a:solidFill>
                <a:latin typeface="Calibri" panose="020F0502020204030204" pitchFamily="34" charset="0"/>
              </a:rPr>
              <a:t>AUTHENTICATION AND ACCESS</a:t>
            </a:r>
            <a:endParaRPr lang="en-US" sz="1050" b="1" dirty="0">
              <a:solidFill>
                <a:srgbClr val="CD9732"/>
              </a:solidFill>
              <a:latin typeface="Calibri" panose="020F0502020204030204" pitchFamily="34" charset="0"/>
            </a:endParaRPr>
          </a:p>
        </p:txBody>
      </p:sp>
      <p:sp>
        <p:nvSpPr>
          <p:cNvPr id="8" name="Shape 6"/>
          <p:cNvSpPr/>
          <p:nvPr/>
        </p:nvSpPr>
        <p:spPr>
          <a:xfrm>
            <a:off x="6336792" y="1463040"/>
            <a:ext cx="5303520" cy="4206240"/>
          </a:xfrm>
          <a:prstGeom prst="roundRect">
            <a:avLst>
              <a:gd name="adj" fmla="val 1739"/>
            </a:avLst>
          </a:prstGeom>
          <a:solidFill>
            <a:srgbClr val="FBF6EC"/>
          </a:solidFill>
          <a:ln w="12700">
            <a:solidFill>
              <a:srgbClr val="E8DCC0"/>
            </a:solidFill>
            <a:prstDash val="solid"/>
          </a:ln>
        </p:spPr>
        <p:txBody>
          <a:bodyPr/>
          <a:lstStyle/>
          <a:p>
            <a:endParaRPr lang="en-US"/>
          </a:p>
        </p:txBody>
      </p:sp>
      <p:sp>
        <p:nvSpPr>
          <p:cNvPr id="9" name="Text 7"/>
          <p:cNvSpPr txBox="1"/>
          <p:nvPr/>
        </p:nvSpPr>
        <p:spPr>
          <a:xfrm>
            <a:off x="6611112" y="1645920"/>
            <a:ext cx="4572000" cy="274320"/>
          </a:xfrm>
          <a:prstGeom prst="rect">
            <a:avLst/>
          </a:prstGeom>
          <a:noFill/>
          <a:ln/>
        </p:spPr>
        <p:txBody>
          <a:bodyPr wrap="square" lIns="0" tIns="0" rIns="0" bIns="0" rtlCol="0" anchor="t"/>
          <a:lstStyle/>
          <a:p>
            <a:pPr marL="0" indent="0">
              <a:buNone/>
            </a:pPr>
            <a:r>
              <a:rPr lang="en-US" sz="1050" b="1">
                <a:solidFill>
                  <a:srgbClr val="273363"/>
                </a:solidFill>
                <a:latin typeface="Calibri" panose="020F0502020204030204" pitchFamily="34" charset="0"/>
              </a:rPr>
              <a:t>SESSION AND EVENT API</a:t>
            </a:r>
            <a:endParaRPr lang="en-US" sz="1050" b="1" dirty="0">
              <a:solidFill>
                <a:srgbClr val="273363"/>
              </a:solidFill>
              <a:latin typeface="Calibri" panose="020F0502020204030204" pitchFamily="34" charset="0"/>
            </a:endParaRPr>
          </a:p>
        </p:txBody>
      </p:sp>
      <p:sp>
        <p:nvSpPr>
          <p:cNvPr id="10" name="Text 8"/>
          <p:cNvSpPr txBox="1"/>
          <p:nvPr/>
        </p:nvSpPr>
        <p:spPr>
          <a:xfrm>
            <a:off x="6611112" y="2011680"/>
            <a:ext cx="4754880" cy="3474720"/>
          </a:xfrm>
          <a:prstGeom prst="rect">
            <a:avLst/>
          </a:prstGeom>
          <a:noFill/>
          <a:ln/>
        </p:spPr>
        <p:txBody>
          <a:bodyPr wrap="square" lIns="0" tIns="0" rIns="0" bIns="0" rtlCol="0" anchor="t"/>
          <a:lstStyle/>
          <a:p>
            <a:pPr marL="0" indent="0">
              <a:buNone/>
            </a:pPr>
            <a:endParaRPr lang="en-US" sz="1600" dirty="0"/>
          </a:p>
        </p:txBody>
      </p:sp>
      <p:sp>
        <p:nvSpPr>
          <p:cNvPr id="12" name="Text 1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11</a:t>
            </a:r>
            <a:endParaRPr lang="en-US" sz="900" dirty="0"/>
          </a:p>
        </p:txBody>
      </p:sp>
      <p:pic>
        <p:nvPicPr>
          <p:cNvPr id="14" name="Picture 13">
            <a:extLst>
              <a:ext uri="{FF2B5EF4-FFF2-40B4-BE49-F238E27FC236}">
                <a16:creationId xmlns:a16="http://schemas.microsoft.com/office/drawing/2014/main" id="{5241380D-66F8-C87B-2316-586F972ED57B}"/>
              </a:ext>
            </a:extLst>
          </p:cNvPr>
          <p:cNvPicPr>
            <a:picLocks/>
          </p:cNvPicPr>
          <p:nvPr/>
        </p:nvPicPr>
        <p:blipFill>
          <a:blip r:embed="rId3"/>
          <a:stretch>
            <a:fillRect/>
          </a:stretch>
        </p:blipFill>
        <p:spPr>
          <a:xfrm>
            <a:off x="685800" y="2034381"/>
            <a:ext cx="5207000" cy="2928938"/>
          </a:xfrm>
          <a:prstGeom prst="rect">
            <a:avLst/>
          </a:prstGeom>
        </p:spPr>
      </p:pic>
      <p:sp>
        <p:nvSpPr>
          <p:cNvPr id="17" name="TextBox 16">
            <a:extLst>
              <a:ext uri="{FF2B5EF4-FFF2-40B4-BE49-F238E27FC236}">
                <a16:creationId xmlns:a16="http://schemas.microsoft.com/office/drawing/2014/main" id="{8CE973A0-DF12-FFCA-F5E8-D7AB1D76A2E0}"/>
              </a:ext>
            </a:extLst>
          </p:cNvPr>
          <p:cNvSpPr txBox="1"/>
          <p:nvPr/>
        </p:nvSpPr>
        <p:spPr>
          <a:xfrm>
            <a:off x="825500" y="5143500"/>
            <a:ext cx="4953000" cy="323165"/>
          </a:xfrm>
          <a:prstGeom prst="rect">
            <a:avLst/>
          </a:prstGeom>
          <a:noFill/>
        </p:spPr>
        <p:txBody>
          <a:bodyPr vert="horz" wrap="square" lIns="0" tIns="0" rIns="0" bIns="0" rtlCol="0">
            <a:spAutoFit/>
          </a:bodyPr>
          <a:lstStyle/>
          <a:p>
            <a:r>
              <a:rPr lang="en-US" sz="1050">
                <a:solidFill>
                  <a:srgbClr val="374365"/>
                </a:solidFill>
                <a:latin typeface="Calibri" panose="020F0502020204030204" pitchFamily="34" charset="0"/>
              </a:rPr>
              <a:t>9 of 9 live authentication and access checks passed using a synthetic operator account. Password and JWT were withheld.</a:t>
            </a:r>
          </a:p>
        </p:txBody>
      </p:sp>
      <p:pic>
        <p:nvPicPr>
          <p:cNvPr id="19" name="Picture 18">
            <a:extLst>
              <a:ext uri="{FF2B5EF4-FFF2-40B4-BE49-F238E27FC236}">
                <a16:creationId xmlns:a16="http://schemas.microsoft.com/office/drawing/2014/main" id="{887EDE54-820B-12DB-BB1C-659E4B3FECB1}"/>
              </a:ext>
            </a:extLst>
          </p:cNvPr>
          <p:cNvPicPr>
            <a:picLocks/>
          </p:cNvPicPr>
          <p:nvPr/>
        </p:nvPicPr>
        <p:blipFill>
          <a:blip r:embed="rId4"/>
          <a:stretch>
            <a:fillRect/>
          </a:stretch>
        </p:blipFill>
        <p:spPr>
          <a:xfrm>
            <a:off x="6479117" y="1968500"/>
            <a:ext cx="5012267" cy="2819400"/>
          </a:xfrm>
          <a:prstGeom prst="rect">
            <a:avLst/>
          </a:prstGeom>
        </p:spPr>
      </p:pic>
      <p:sp>
        <p:nvSpPr>
          <p:cNvPr id="20" name="TextBox 19">
            <a:extLst>
              <a:ext uri="{FF2B5EF4-FFF2-40B4-BE49-F238E27FC236}">
                <a16:creationId xmlns:a16="http://schemas.microsoft.com/office/drawing/2014/main" id="{51B8BEDC-79A0-CAD9-3E52-4CA9A1C94C38}"/>
              </a:ext>
            </a:extLst>
          </p:cNvPr>
          <p:cNvSpPr txBox="1"/>
          <p:nvPr/>
        </p:nvSpPr>
        <p:spPr>
          <a:xfrm>
            <a:off x="6604000" y="4914900"/>
            <a:ext cx="4749800" cy="323165"/>
          </a:xfrm>
          <a:prstGeom prst="rect">
            <a:avLst/>
          </a:prstGeom>
          <a:noFill/>
        </p:spPr>
        <p:txBody>
          <a:bodyPr vert="horz" wrap="square" lIns="0" tIns="0" rIns="0" bIns="0" rtlCol="0">
            <a:spAutoFit/>
          </a:bodyPr>
          <a:lstStyle/>
          <a:p>
            <a:r>
              <a:rPr lang="en-US" sz="1050">
                <a:solidFill>
                  <a:srgbClr val="374365"/>
                </a:solidFill>
                <a:latin typeface="Calibri" panose="020F0502020204030204" pitchFamily="34" charset="0"/>
              </a:rPr>
              <a:t>6 of 6 REST checks passed for session creation, event storage and history, duplicate handling, and schema rejection.</a:t>
            </a:r>
          </a:p>
        </p:txBody>
      </p:sp>
    </p:spTree>
    <p:extLst>
      <p:ext uri="{BB962C8B-B14F-4D97-AF65-F5344CB8AC3E}">
        <p14:creationId xmlns:p14="http://schemas.microsoft.com/office/powerpoint/2010/main" val="3591683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11  |  WEBSOCKET AND SESSION</a:t>
            </a:r>
            <a:endParaRPr lang="en-US" sz="1000" dirty="0"/>
          </a:p>
        </p:txBody>
      </p:sp>
      <p:sp>
        <p:nvSpPr>
          <p:cNvPr id="4" name="Text 2"/>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rPr>
              <a:t>WebSocket and session safeguards</a:t>
            </a:r>
            <a:endParaRPr lang="en-US" sz="3200" dirty="0"/>
          </a:p>
        </p:txBody>
      </p:sp>
      <p:sp>
        <p:nvSpPr>
          <p:cNvPr id="5" name="Shape 3"/>
          <p:cNvSpPr/>
          <p:nvPr/>
        </p:nvSpPr>
        <p:spPr>
          <a:xfrm>
            <a:off x="548640" y="1463040"/>
            <a:ext cx="5486400" cy="4206240"/>
          </a:xfrm>
          <a:prstGeom prst="roundRect">
            <a:avLst>
              <a:gd name="adj" fmla="val 1739"/>
            </a:avLst>
          </a:prstGeom>
          <a:solidFill>
            <a:srgbClr val="F7F8FC"/>
          </a:solidFill>
          <a:ln w="12700">
            <a:solidFill>
              <a:srgbClr val="DDE2EE"/>
            </a:solidFill>
            <a:prstDash val="solid"/>
          </a:ln>
        </p:spPr>
        <p:txBody>
          <a:bodyPr/>
          <a:lstStyle/>
          <a:p>
            <a:endParaRPr lang="en-US"/>
          </a:p>
        </p:txBody>
      </p:sp>
      <p:sp>
        <p:nvSpPr>
          <p:cNvPr id="6" name="Text 4"/>
          <p:cNvSpPr txBox="1"/>
          <p:nvPr/>
        </p:nvSpPr>
        <p:spPr>
          <a:xfrm>
            <a:off x="822960" y="1645920"/>
            <a:ext cx="3657600" cy="274320"/>
          </a:xfrm>
          <a:prstGeom prst="rect">
            <a:avLst/>
          </a:prstGeom>
          <a:noFill/>
          <a:ln/>
        </p:spPr>
        <p:txBody>
          <a:bodyPr wrap="square" lIns="0" tIns="0" rIns="0" bIns="0" rtlCol="0" anchor="t"/>
          <a:lstStyle/>
          <a:p>
            <a:pPr marL="0" indent="0">
              <a:buNone/>
            </a:pPr>
            <a:r>
              <a:rPr lang="en-US" sz="1050" b="1">
                <a:solidFill>
                  <a:srgbClr val="CD9732"/>
                </a:solidFill>
                <a:latin typeface="Calibri" panose="020F0502020204030204" pitchFamily="34" charset="0"/>
              </a:rPr>
              <a:t>LIVE WEBSOCKET CHECKS</a:t>
            </a:r>
            <a:endParaRPr lang="en-US" sz="1050" b="1" dirty="0">
              <a:solidFill>
                <a:srgbClr val="CD9732"/>
              </a:solidFill>
              <a:latin typeface="Calibri" panose="020F0502020204030204" pitchFamily="34" charset="0"/>
            </a:endParaRPr>
          </a:p>
        </p:txBody>
      </p:sp>
      <p:sp>
        <p:nvSpPr>
          <p:cNvPr id="8" name="Shape 6"/>
          <p:cNvSpPr/>
          <p:nvPr/>
        </p:nvSpPr>
        <p:spPr>
          <a:xfrm>
            <a:off x="6336792" y="1463040"/>
            <a:ext cx="5303520" cy="4206240"/>
          </a:xfrm>
          <a:prstGeom prst="roundRect">
            <a:avLst>
              <a:gd name="adj" fmla="val 1739"/>
            </a:avLst>
          </a:prstGeom>
          <a:solidFill>
            <a:srgbClr val="FBF6EC"/>
          </a:solidFill>
          <a:ln w="12700">
            <a:solidFill>
              <a:srgbClr val="E8DCC0"/>
            </a:solidFill>
            <a:prstDash val="solid"/>
          </a:ln>
        </p:spPr>
        <p:txBody>
          <a:bodyPr/>
          <a:lstStyle/>
          <a:p>
            <a:endParaRPr lang="en-US"/>
          </a:p>
        </p:txBody>
      </p:sp>
      <p:sp>
        <p:nvSpPr>
          <p:cNvPr id="9" name="Text 7"/>
          <p:cNvSpPr txBox="1"/>
          <p:nvPr/>
        </p:nvSpPr>
        <p:spPr>
          <a:xfrm>
            <a:off x="6611112" y="1645920"/>
            <a:ext cx="4572000" cy="274320"/>
          </a:xfrm>
          <a:prstGeom prst="rect">
            <a:avLst/>
          </a:prstGeom>
          <a:noFill/>
          <a:ln/>
        </p:spPr>
        <p:txBody>
          <a:bodyPr wrap="square" lIns="0" tIns="0" rIns="0" bIns="0" rtlCol="0" anchor="t"/>
          <a:lstStyle/>
          <a:p>
            <a:pPr marL="0" indent="0">
              <a:buNone/>
            </a:pPr>
            <a:r>
              <a:rPr lang="en-US" sz="1050" b="1">
                <a:solidFill>
                  <a:srgbClr val="273363"/>
                </a:solidFill>
                <a:latin typeface="Calibri" panose="020F0502020204030204" pitchFamily="34" charset="0"/>
              </a:rPr>
              <a:t>PUBLISHED SERVICE PAGE</a:t>
            </a:r>
            <a:endParaRPr lang="en-US" sz="1050" b="1" dirty="0">
              <a:solidFill>
                <a:srgbClr val="273363"/>
              </a:solidFill>
              <a:latin typeface="Calibri" panose="020F0502020204030204" pitchFamily="34" charset="0"/>
            </a:endParaRPr>
          </a:p>
        </p:txBody>
      </p:sp>
      <p:sp>
        <p:nvSpPr>
          <p:cNvPr id="10" name="Text 8"/>
          <p:cNvSpPr txBox="1"/>
          <p:nvPr/>
        </p:nvSpPr>
        <p:spPr>
          <a:xfrm>
            <a:off x="6611112" y="2011680"/>
            <a:ext cx="4754880" cy="3474720"/>
          </a:xfrm>
          <a:prstGeom prst="rect">
            <a:avLst/>
          </a:prstGeom>
          <a:noFill/>
          <a:ln/>
        </p:spPr>
        <p:txBody>
          <a:bodyPr wrap="square" lIns="0" tIns="0" rIns="0" bIns="0" rtlCol="0" anchor="t"/>
          <a:lstStyle/>
          <a:p>
            <a:pPr marL="0" indent="0">
              <a:buNone/>
            </a:pPr>
            <a:endParaRPr lang="en-US" sz="1600" dirty="0"/>
          </a:p>
        </p:txBody>
      </p:sp>
      <p:sp>
        <p:nvSpPr>
          <p:cNvPr id="12" name="Text 10"/>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12</a:t>
            </a:r>
            <a:endParaRPr lang="en-US" sz="900" dirty="0"/>
          </a:p>
        </p:txBody>
      </p:sp>
      <p:pic>
        <p:nvPicPr>
          <p:cNvPr id="14" name="Picture 13">
            <a:extLst>
              <a:ext uri="{FF2B5EF4-FFF2-40B4-BE49-F238E27FC236}">
                <a16:creationId xmlns:a16="http://schemas.microsoft.com/office/drawing/2014/main" id="{AE646B2C-FFE3-26CB-E063-85C7BCA1AE2E}"/>
              </a:ext>
            </a:extLst>
          </p:cNvPr>
          <p:cNvPicPr>
            <a:picLocks/>
          </p:cNvPicPr>
          <p:nvPr/>
        </p:nvPicPr>
        <p:blipFill>
          <a:blip r:embed="rId3"/>
          <a:stretch>
            <a:fillRect/>
          </a:stretch>
        </p:blipFill>
        <p:spPr>
          <a:xfrm>
            <a:off x="685800" y="2034381"/>
            <a:ext cx="5207000" cy="2928938"/>
          </a:xfrm>
          <a:prstGeom prst="rect">
            <a:avLst/>
          </a:prstGeom>
        </p:spPr>
      </p:pic>
      <p:sp>
        <p:nvSpPr>
          <p:cNvPr id="17" name="TextBox 16">
            <a:extLst>
              <a:ext uri="{FF2B5EF4-FFF2-40B4-BE49-F238E27FC236}">
                <a16:creationId xmlns:a16="http://schemas.microsoft.com/office/drawing/2014/main" id="{549086D5-4F0F-FBCB-4874-9F6A520E143C}"/>
              </a:ext>
            </a:extLst>
          </p:cNvPr>
          <p:cNvSpPr txBox="1"/>
          <p:nvPr/>
        </p:nvSpPr>
        <p:spPr>
          <a:xfrm>
            <a:off x="825500" y="5143500"/>
            <a:ext cx="4953000" cy="323165"/>
          </a:xfrm>
          <a:prstGeom prst="rect">
            <a:avLst/>
          </a:prstGeom>
          <a:noFill/>
        </p:spPr>
        <p:txBody>
          <a:bodyPr vert="horz" wrap="square" lIns="0" tIns="0" rIns="0" bIns="0" rtlCol="0">
            <a:spAutoFit/>
          </a:bodyPr>
          <a:lstStyle/>
          <a:p>
            <a:r>
              <a:rPr lang="en-US" sz="1050">
                <a:solidFill>
                  <a:srgbClr val="374365"/>
                </a:solidFill>
                <a:latin typeface="Calibri" panose="020F0502020204030204" pitchFamily="34" charset="0"/>
              </a:rPr>
              <a:t>4 of 4 live checks passed: authenticated handshake, event acknowledgement, persisted event, and rejection after session close.</a:t>
            </a:r>
          </a:p>
        </p:txBody>
      </p:sp>
      <p:pic>
        <p:nvPicPr>
          <p:cNvPr id="19" name="Picture 18">
            <a:extLst>
              <a:ext uri="{FF2B5EF4-FFF2-40B4-BE49-F238E27FC236}">
                <a16:creationId xmlns:a16="http://schemas.microsoft.com/office/drawing/2014/main" id="{1B7519B8-E024-2593-DB93-1970BB932E33}"/>
              </a:ext>
            </a:extLst>
          </p:cNvPr>
          <p:cNvPicPr>
            <a:picLocks/>
          </p:cNvPicPr>
          <p:nvPr/>
        </p:nvPicPr>
        <p:blipFill>
          <a:blip r:embed="rId4"/>
          <a:stretch>
            <a:fillRect/>
          </a:stretch>
        </p:blipFill>
        <p:spPr>
          <a:xfrm>
            <a:off x="6479117" y="1968500"/>
            <a:ext cx="5012267" cy="2819400"/>
          </a:xfrm>
          <a:prstGeom prst="rect">
            <a:avLst/>
          </a:prstGeom>
        </p:spPr>
      </p:pic>
      <p:sp>
        <p:nvSpPr>
          <p:cNvPr id="20" name="TextBox 19">
            <a:extLst>
              <a:ext uri="{FF2B5EF4-FFF2-40B4-BE49-F238E27FC236}">
                <a16:creationId xmlns:a16="http://schemas.microsoft.com/office/drawing/2014/main" id="{AF9793C7-7792-F5CC-F553-B623A75A9488}"/>
              </a:ext>
            </a:extLst>
          </p:cNvPr>
          <p:cNvSpPr txBox="1"/>
          <p:nvPr/>
        </p:nvSpPr>
        <p:spPr>
          <a:xfrm>
            <a:off x="6604000" y="4914900"/>
            <a:ext cx="4749800" cy="323165"/>
          </a:xfrm>
          <a:prstGeom prst="rect">
            <a:avLst/>
          </a:prstGeom>
          <a:noFill/>
        </p:spPr>
        <p:txBody>
          <a:bodyPr vert="horz" wrap="square" lIns="0" tIns="0" rIns="0" bIns="0" rtlCol="0">
            <a:spAutoFit/>
          </a:bodyPr>
          <a:lstStyle/>
          <a:p>
            <a:r>
              <a:rPr lang="en-US" sz="1050">
                <a:solidFill>
                  <a:srgbClr val="374365"/>
                </a:solidFill>
                <a:latin typeface="Calibri" panose="020F0502020204030204" pitchFamily="34" charset="0"/>
              </a:rPr>
              <a:t>Chrome shows the live API online, both databases up, and WebSocket ingestion available. The page states that it does not send robot commands.</a:t>
            </a:r>
          </a:p>
        </p:txBody>
      </p:sp>
    </p:spTree>
    <p:extLst>
      <p:ext uri="{BB962C8B-B14F-4D97-AF65-F5344CB8AC3E}">
        <p14:creationId xmlns:p14="http://schemas.microsoft.com/office/powerpoint/2010/main" val="2666509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458A6-419E-20C4-8C89-B80C6E4872D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A196D3D-5E5B-C77A-AD69-B85B92BEA186}"/>
              </a:ext>
            </a:extLst>
          </p:cNvPr>
          <p:cNvSpPr/>
          <p:nvPr/>
        </p:nvSpPr>
        <p:spPr>
          <a:xfrm>
            <a:off x="0" y="0"/>
            <a:ext cx="12191695" cy="320040"/>
          </a:xfrm>
          <a:prstGeom prst="rect">
            <a:avLst/>
          </a:prstGeom>
          <a:solidFill>
            <a:srgbClr val="C8963E"/>
          </a:solidFill>
          <a:ln w="12700">
            <a:solidFill>
              <a:srgbClr val="C8963E"/>
            </a:solidFill>
            <a:prstDash val="solid"/>
          </a:ln>
        </p:spPr>
        <p:txBody>
          <a:bodyPr/>
          <a:lstStyle/>
          <a:p>
            <a:endParaRPr lang="en-US"/>
          </a:p>
        </p:txBody>
      </p:sp>
      <p:sp>
        <p:nvSpPr>
          <p:cNvPr id="3" name="Text 1">
            <a:extLst>
              <a:ext uri="{FF2B5EF4-FFF2-40B4-BE49-F238E27FC236}">
                <a16:creationId xmlns:a16="http://schemas.microsoft.com/office/drawing/2014/main" id="{EBE1C7EF-3098-D93E-C988-80F0C20ACA79}"/>
              </a:ext>
            </a:extLst>
          </p:cNvPr>
          <p:cNvSpPr txBox="1"/>
          <p:nvPr/>
        </p:nvSpPr>
        <p:spPr>
          <a:xfrm>
            <a:off x="548640" y="54864"/>
            <a:ext cx="9144000" cy="228600"/>
          </a:xfrm>
          <a:prstGeom prst="rect">
            <a:avLst/>
          </a:prstGeom>
          <a:noFill/>
          <a:ln/>
        </p:spPr>
        <p:txBody>
          <a:bodyPr wrap="square" lIns="0" tIns="0" rIns="0" bIns="0" rtlCol="0" anchor="t"/>
          <a:lstStyle/>
          <a:p>
            <a:pPr marL="0" indent="0">
              <a:buNone/>
            </a:pPr>
            <a:r>
              <a:rPr lang="en-US" sz="1000" b="1" kern="0" spc="300">
                <a:solidFill>
                  <a:srgbClr val="FFFFFF"/>
                </a:solidFill>
                <a:latin typeface="Calibri" pitchFamily="34" charset="0"/>
                <a:ea typeface="Calibri" pitchFamily="34" charset="-122"/>
                <a:cs typeface="Calibri" pitchFamily="34" charset="-120"/>
              </a:rPr>
              <a:t>SLIDE 12  |  PROJECT OWNER AND NEXT STEP</a:t>
            </a:r>
            <a:endParaRPr lang="en-US" sz="1000" dirty="0"/>
          </a:p>
        </p:txBody>
      </p:sp>
      <p:sp>
        <p:nvSpPr>
          <p:cNvPr id="4" name="Text 2">
            <a:extLst>
              <a:ext uri="{FF2B5EF4-FFF2-40B4-BE49-F238E27FC236}">
                <a16:creationId xmlns:a16="http://schemas.microsoft.com/office/drawing/2014/main" id="{C3B4FB51-7EAE-9895-30DA-B0BA17921FEF}"/>
              </a:ext>
            </a:extLst>
          </p:cNvPr>
          <p:cNvSpPr txBox="1"/>
          <p:nvPr/>
        </p:nvSpPr>
        <p:spPr>
          <a:xfrm>
            <a:off x="548640" y="548640"/>
            <a:ext cx="11094415" cy="685800"/>
          </a:xfrm>
          <a:prstGeom prst="rect">
            <a:avLst/>
          </a:prstGeom>
          <a:noFill/>
          <a:ln/>
        </p:spPr>
        <p:txBody>
          <a:bodyPr wrap="square" lIns="0" tIns="0" rIns="0" bIns="0" rtlCol="0" anchor="t"/>
          <a:lstStyle/>
          <a:p>
            <a:pPr marL="0" indent="0">
              <a:buNone/>
            </a:pPr>
            <a:r>
              <a:rPr lang="en-US" sz="3200" b="1">
                <a:solidFill>
                  <a:srgbClr val="1E2761"/>
                </a:solidFill>
                <a:latin typeface="Cambria" pitchFamily="34" charset="0"/>
                <a:ea typeface="Cambria" pitchFamily="34" charset="-122"/>
                <a:cs typeface="Cambria" pitchFamily="34" charset="-120"/>
              </a:rPr>
              <a:t>Project owner and next step</a:t>
            </a:r>
            <a:endParaRPr lang="en-US" sz="3200" dirty="0"/>
          </a:p>
        </p:txBody>
      </p:sp>
      <p:sp>
        <p:nvSpPr>
          <p:cNvPr id="5" name="Shape 3">
            <a:extLst>
              <a:ext uri="{FF2B5EF4-FFF2-40B4-BE49-F238E27FC236}">
                <a16:creationId xmlns:a16="http://schemas.microsoft.com/office/drawing/2014/main" id="{D7493590-9D42-FFD2-12B8-AC64CB6313F3}"/>
              </a:ext>
            </a:extLst>
          </p:cNvPr>
          <p:cNvSpPr/>
          <p:nvPr/>
        </p:nvSpPr>
        <p:spPr>
          <a:xfrm>
            <a:off x="548640" y="1463040"/>
            <a:ext cx="5486400" cy="4206240"/>
          </a:xfrm>
          <a:prstGeom prst="roundRect">
            <a:avLst>
              <a:gd name="adj" fmla="val 1739"/>
            </a:avLst>
          </a:prstGeom>
          <a:solidFill>
            <a:srgbClr val="F7F8FC"/>
          </a:solidFill>
          <a:ln w="12700">
            <a:solidFill>
              <a:srgbClr val="DDE2EE"/>
            </a:solidFill>
            <a:prstDash val="solid"/>
          </a:ln>
        </p:spPr>
        <p:txBody>
          <a:bodyPr/>
          <a:lstStyle/>
          <a:p>
            <a:endParaRPr lang="en-US"/>
          </a:p>
        </p:txBody>
      </p:sp>
      <p:sp>
        <p:nvSpPr>
          <p:cNvPr id="6" name="Text 4">
            <a:extLst>
              <a:ext uri="{FF2B5EF4-FFF2-40B4-BE49-F238E27FC236}">
                <a16:creationId xmlns:a16="http://schemas.microsoft.com/office/drawing/2014/main" id="{4F29233B-F2FF-40EB-B74C-FD99678496F9}"/>
              </a:ext>
            </a:extLst>
          </p:cNvPr>
          <p:cNvSpPr txBox="1"/>
          <p:nvPr/>
        </p:nvSpPr>
        <p:spPr>
          <a:xfrm>
            <a:off x="822960" y="1645920"/>
            <a:ext cx="3657600" cy="274320"/>
          </a:xfrm>
          <a:prstGeom prst="rect">
            <a:avLst/>
          </a:prstGeom>
          <a:noFill/>
          <a:ln/>
        </p:spPr>
        <p:txBody>
          <a:bodyPr wrap="square" lIns="0" tIns="0" rIns="0" bIns="0" rtlCol="0" anchor="t"/>
          <a:lstStyle/>
          <a:p>
            <a:pPr marL="0" indent="0">
              <a:buNone/>
            </a:pPr>
            <a:r>
              <a:rPr lang="en-US" sz="1050" b="1" kern="0" spc="300">
                <a:solidFill>
                  <a:srgbClr val="273363"/>
                </a:solidFill>
                <a:latin typeface="Calibri" panose="020F0502020204030204" pitchFamily="34" charset="0"/>
                <a:ea typeface="Calibri" pitchFamily="34" charset="-122"/>
                <a:cs typeface="Calibri" pitchFamily="34" charset="-120"/>
              </a:rPr>
              <a:t>PROJECT OWNER</a:t>
            </a:r>
            <a:endParaRPr lang="en-US" sz="1050" b="1" dirty="0">
              <a:solidFill>
                <a:srgbClr val="273363"/>
              </a:solidFill>
              <a:latin typeface="Calibri" panose="020F0502020204030204" pitchFamily="34" charset="0"/>
            </a:endParaRPr>
          </a:p>
        </p:txBody>
      </p:sp>
      <p:sp>
        <p:nvSpPr>
          <p:cNvPr id="7" name="Text 5">
            <a:extLst>
              <a:ext uri="{FF2B5EF4-FFF2-40B4-BE49-F238E27FC236}">
                <a16:creationId xmlns:a16="http://schemas.microsoft.com/office/drawing/2014/main" id="{1CDB3F53-2319-D591-9AC2-173251FA4A38}"/>
              </a:ext>
            </a:extLst>
          </p:cNvPr>
          <p:cNvSpPr txBox="1"/>
          <p:nvPr/>
        </p:nvSpPr>
        <p:spPr>
          <a:xfrm>
            <a:off x="822960" y="2011680"/>
            <a:ext cx="4937760" cy="3474720"/>
          </a:xfrm>
          <a:prstGeom prst="rect">
            <a:avLst/>
          </a:prstGeom>
          <a:noFill/>
          <a:ln/>
        </p:spPr>
        <p:txBody>
          <a:bodyPr wrap="square" lIns="0" tIns="0" rIns="0" bIns="0" rtlCol="0" anchor="t"/>
          <a:lstStyle/>
          <a:p>
            <a:pPr marL="0" indent="0"/>
            <a:r>
              <a:rPr lang="en-US" sz="1320">
                <a:solidFill>
                  <a:srgbClr val="374365"/>
                </a:solidFill>
                <a:latin typeface="Calibri" pitchFamily="34" charset="0"/>
                <a:ea typeface="Calibri" pitchFamily="34" charset="-122"/>
                <a:cs typeface="Calibri" pitchFamily="34" charset="-120"/>
              </a:rPr>
              <a:t>Khaled Mohamed Ahmed El-Sayed El-Masry</a:t>
            </a:r>
          </a:p>
          <a:p>
            <a:pPr marL="0" indent="0"/>
            <a:r>
              <a:rPr lang="en-US" sz="1320">
                <a:solidFill>
                  <a:srgbClr val="374365"/>
                </a:solidFill>
                <a:latin typeface="Calibri" pitchFamily="34" charset="0"/>
                <a:ea typeface="Calibri" pitchFamily="34" charset="-122"/>
                <a:cs typeface="Calibri" pitchFamily="34" charset="-120"/>
              </a:rPr>
              <a:t>Third-year student, Faculty of Engineering</a:t>
            </a:r>
          </a:p>
          <a:p>
            <a:pPr marL="0" indent="0"/>
            <a:r>
              <a:rPr lang="en-US" sz="1320">
                <a:solidFill>
                  <a:srgbClr val="374365"/>
                </a:solidFill>
                <a:latin typeface="Calibri" pitchFamily="34" charset="0"/>
                <a:ea typeface="Calibri" pitchFamily="34" charset="-122"/>
                <a:cs typeface="Calibri" pitchFamily="34" charset="-120"/>
              </a:rPr>
              <a:t>Electrical Power Quality Department</a:t>
            </a:r>
            <a:endParaRPr lang="en-US" sz="1320" dirty="0">
              <a:solidFill>
                <a:srgbClr val="374365"/>
              </a:solidFill>
              <a:latin typeface="Calibri" panose="020F0502020204030204" pitchFamily="34" charset="0"/>
            </a:endParaRPr>
          </a:p>
        </p:txBody>
      </p:sp>
      <p:sp>
        <p:nvSpPr>
          <p:cNvPr id="8" name="Shape 6">
            <a:extLst>
              <a:ext uri="{FF2B5EF4-FFF2-40B4-BE49-F238E27FC236}">
                <a16:creationId xmlns:a16="http://schemas.microsoft.com/office/drawing/2014/main" id="{1F84833A-B920-305C-2D2C-CEBB2A8B2FF3}"/>
              </a:ext>
            </a:extLst>
          </p:cNvPr>
          <p:cNvSpPr/>
          <p:nvPr/>
        </p:nvSpPr>
        <p:spPr>
          <a:xfrm>
            <a:off x="6336792" y="1463040"/>
            <a:ext cx="5303520" cy="4206240"/>
          </a:xfrm>
          <a:prstGeom prst="roundRect">
            <a:avLst>
              <a:gd name="adj" fmla="val 1739"/>
            </a:avLst>
          </a:prstGeom>
          <a:solidFill>
            <a:srgbClr val="FBF6EC"/>
          </a:solidFill>
          <a:ln w="12700">
            <a:solidFill>
              <a:srgbClr val="E8DCC0"/>
            </a:solidFill>
            <a:prstDash val="solid"/>
          </a:ln>
        </p:spPr>
        <p:txBody>
          <a:bodyPr/>
          <a:lstStyle/>
          <a:p>
            <a:endParaRPr lang="en-US"/>
          </a:p>
        </p:txBody>
      </p:sp>
      <p:sp>
        <p:nvSpPr>
          <p:cNvPr id="9" name="Text 7">
            <a:extLst>
              <a:ext uri="{FF2B5EF4-FFF2-40B4-BE49-F238E27FC236}">
                <a16:creationId xmlns:a16="http://schemas.microsoft.com/office/drawing/2014/main" id="{7CDBF949-6D7A-9B8A-5B3A-4303079525B4}"/>
              </a:ext>
            </a:extLst>
          </p:cNvPr>
          <p:cNvSpPr txBox="1"/>
          <p:nvPr/>
        </p:nvSpPr>
        <p:spPr>
          <a:xfrm>
            <a:off x="6611112" y="1645920"/>
            <a:ext cx="4572000" cy="274320"/>
          </a:xfrm>
          <a:prstGeom prst="rect">
            <a:avLst/>
          </a:prstGeom>
          <a:noFill/>
          <a:ln/>
        </p:spPr>
        <p:txBody>
          <a:bodyPr wrap="square" lIns="0" tIns="0" rIns="0" bIns="0" rtlCol="0" anchor="t"/>
          <a:lstStyle/>
          <a:p>
            <a:pPr marL="0" indent="0">
              <a:buNone/>
            </a:pPr>
            <a:r>
              <a:rPr lang="en-US" sz="1050" b="1" kern="0" spc="300">
                <a:solidFill>
                  <a:srgbClr val="273363"/>
                </a:solidFill>
                <a:latin typeface="Calibri" panose="020F0502020204030204" pitchFamily="34" charset="0"/>
                <a:ea typeface="Calibri" pitchFamily="34" charset="-122"/>
                <a:cs typeface="Calibri" pitchFamily="34" charset="-120"/>
              </a:rPr>
              <a:t>NEXT STEP</a:t>
            </a:r>
            <a:endParaRPr lang="en-US" sz="1050" b="1" dirty="0">
              <a:solidFill>
                <a:srgbClr val="273363"/>
              </a:solidFill>
              <a:latin typeface="Calibri" panose="020F0502020204030204" pitchFamily="34" charset="0"/>
            </a:endParaRPr>
          </a:p>
        </p:txBody>
      </p:sp>
      <p:sp>
        <p:nvSpPr>
          <p:cNvPr id="10" name="Text 8">
            <a:extLst>
              <a:ext uri="{FF2B5EF4-FFF2-40B4-BE49-F238E27FC236}">
                <a16:creationId xmlns:a16="http://schemas.microsoft.com/office/drawing/2014/main" id="{8C017DE6-BC32-51F3-9AC0-D0BB7523BCDE}"/>
              </a:ext>
            </a:extLst>
          </p:cNvPr>
          <p:cNvSpPr txBox="1"/>
          <p:nvPr/>
        </p:nvSpPr>
        <p:spPr>
          <a:xfrm>
            <a:off x="6611112" y="2011680"/>
            <a:ext cx="4754880" cy="3474720"/>
          </a:xfrm>
          <a:prstGeom prst="rect">
            <a:avLst/>
          </a:prstGeom>
          <a:noFill/>
          <a:ln/>
        </p:spPr>
        <p:txBody>
          <a:bodyPr wrap="square" lIns="0" tIns="0" rIns="0" bIns="0" rtlCol="0" anchor="t"/>
          <a:lstStyle/>
          <a:p>
            <a:pPr marL="0" indent="0"/>
            <a:r>
              <a:rPr lang="en-US" sz="1250">
                <a:solidFill>
                  <a:srgbClr val="374365"/>
                </a:solidFill>
                <a:latin typeface="Calibri" pitchFamily="34" charset="0"/>
                <a:ea typeface="Calibri" pitchFamily="34" charset="-122"/>
                <a:cs typeface="Calibri" pitchFamily="34" charset="-120"/>
              </a:rPr>
              <a:t>Connect the existing control website to the authenticated session and event API.</a:t>
            </a:r>
          </a:p>
          <a:p>
            <a:pPr marL="0" indent="0"/>
            <a:endParaRPr lang="en-US" sz="1250">
              <a:solidFill>
                <a:srgbClr val="374365"/>
              </a:solidFill>
              <a:latin typeface="Calibri" pitchFamily="34" charset="0"/>
              <a:ea typeface="Calibri" pitchFamily="34" charset="-122"/>
              <a:cs typeface="Calibri" pitchFamily="34" charset="-120"/>
            </a:endParaRPr>
          </a:p>
          <a:p>
            <a:pPr marL="0" indent="0"/>
            <a:r>
              <a:rPr lang="en-US" sz="1250">
                <a:solidFill>
                  <a:srgbClr val="374365"/>
                </a:solidFill>
                <a:latin typeface="Calibri" pitchFamily="34" charset="0"/>
                <a:ea typeface="Calibri" pitchFamily="34" charset="-122"/>
                <a:cs typeface="Calibri" pitchFamily="34" charset="-120"/>
              </a:rPr>
              <a:t>Before production use, replace the current Atlas runtime user with a least-privilege database user and set Render's health check to /api/v1/health/ready.</a:t>
            </a:r>
          </a:p>
          <a:p>
            <a:pPr marL="0" indent="0"/>
            <a:endParaRPr lang="en-US" sz="1250">
              <a:solidFill>
                <a:srgbClr val="374365"/>
              </a:solidFill>
              <a:latin typeface="Calibri" pitchFamily="34" charset="0"/>
              <a:ea typeface="Calibri" pitchFamily="34" charset="-122"/>
              <a:cs typeface="Calibri" pitchFamily="34" charset="-120"/>
            </a:endParaRPr>
          </a:p>
          <a:p>
            <a:pPr marL="0" indent="0"/>
            <a:r>
              <a:rPr lang="en-US" sz="1250">
                <a:solidFill>
                  <a:srgbClr val="374365"/>
                </a:solidFill>
                <a:latin typeface="Calibri" pitchFamily="34" charset="0"/>
                <a:ea typeface="Calibri" pitchFamily="34" charset="-122"/>
                <a:cs typeface="Calibri" pitchFamily="34" charset="-120"/>
              </a:rPr>
              <a:t>Remove the temporary synthetic test account after review.</a:t>
            </a:r>
          </a:p>
          <a:p>
            <a:pPr marL="0" indent="0"/>
            <a:endParaRPr lang="en-US" sz="1250">
              <a:solidFill>
                <a:srgbClr val="374365"/>
              </a:solidFill>
              <a:latin typeface="Calibri" pitchFamily="34" charset="0"/>
              <a:ea typeface="Calibri" pitchFamily="34" charset="-122"/>
              <a:cs typeface="Calibri" pitchFamily="34" charset="-120"/>
            </a:endParaRPr>
          </a:p>
          <a:p>
            <a:pPr marL="0" indent="0"/>
            <a:r>
              <a:rPr lang="en-US" sz="1250">
                <a:solidFill>
                  <a:srgbClr val="374365"/>
                </a:solidFill>
                <a:latin typeface="Calibri" pitchFamily="34" charset="0"/>
                <a:ea typeface="Calibri" pitchFamily="34" charset="-122"/>
                <a:cs typeface="Calibri" pitchFamily="34" charset="-120"/>
              </a:rPr>
              <a:t>Scope today: event recording only. The physical robot is not connected to this backend.</a:t>
            </a:r>
            <a:endParaRPr lang="en-US" sz="1250" dirty="0">
              <a:solidFill>
                <a:srgbClr val="374365"/>
              </a:solidFill>
              <a:latin typeface="Calibri" panose="020F0502020204030204" pitchFamily="34" charset="0"/>
            </a:endParaRPr>
          </a:p>
        </p:txBody>
      </p:sp>
      <p:sp>
        <p:nvSpPr>
          <p:cNvPr id="12" name="Text 10">
            <a:extLst>
              <a:ext uri="{FF2B5EF4-FFF2-40B4-BE49-F238E27FC236}">
                <a16:creationId xmlns:a16="http://schemas.microsoft.com/office/drawing/2014/main" id="{C28E0F02-D7E9-102F-CE0B-833B4B3791BE}"/>
              </a:ext>
            </a:extLst>
          </p:cNvPr>
          <p:cNvSpPr txBox="1"/>
          <p:nvPr/>
        </p:nvSpPr>
        <p:spPr>
          <a:xfrm>
            <a:off x="10728655" y="6446520"/>
            <a:ext cx="914400" cy="228600"/>
          </a:xfrm>
          <a:prstGeom prst="rect">
            <a:avLst/>
          </a:prstGeom>
          <a:noFill/>
          <a:ln/>
        </p:spPr>
        <p:txBody>
          <a:bodyPr wrap="square" lIns="0" tIns="0" rIns="0" bIns="0" rtlCol="0" anchor="t"/>
          <a:lstStyle/>
          <a:p>
            <a:pPr marL="0" indent="0" algn="r">
              <a:buNone/>
            </a:pPr>
            <a:r>
              <a:rPr lang="en-US" sz="900">
                <a:solidFill>
                  <a:srgbClr val="9AA1B9"/>
                </a:solidFill>
                <a:latin typeface="Calibri" pitchFamily="34" charset="0"/>
                <a:ea typeface="Calibri" pitchFamily="34" charset="-122"/>
                <a:cs typeface="Calibri" pitchFamily="34" charset="-120"/>
              </a:rPr>
              <a:t>13</a:t>
            </a:r>
            <a:endParaRPr lang="en-US" sz="900" dirty="0"/>
          </a:p>
        </p:txBody>
      </p:sp>
      <p:sp>
        <p:nvSpPr>
          <p:cNvPr id="11" name="TextBox 10">
            <a:extLst>
              <a:ext uri="{FF2B5EF4-FFF2-40B4-BE49-F238E27FC236}">
                <a16:creationId xmlns:a16="http://schemas.microsoft.com/office/drawing/2014/main" id="{13C54B39-A5CC-9316-35C6-8EFC3411AEDE}"/>
              </a:ext>
            </a:extLst>
          </p:cNvPr>
          <p:cNvSpPr txBox="1"/>
          <p:nvPr/>
        </p:nvSpPr>
        <p:spPr>
          <a:xfrm>
            <a:off x="822960" y="3225800"/>
            <a:ext cx="4937760" cy="253916"/>
          </a:xfrm>
          <a:prstGeom prst="rect">
            <a:avLst/>
          </a:prstGeom>
          <a:noFill/>
        </p:spPr>
        <p:txBody>
          <a:bodyPr vert="horz" rtlCol="0">
            <a:spAutoFit/>
          </a:bodyPr>
          <a:lstStyle/>
          <a:p>
            <a:r>
              <a:rPr lang="en-US" sz="1050" b="1">
                <a:solidFill>
                  <a:srgbClr val="CD9732"/>
                </a:solidFill>
                <a:latin typeface="Calibri" panose="020F0502020204030204" pitchFamily="34" charset="0"/>
              </a:rPr>
              <a:t>PROJECT LINKS</a:t>
            </a:r>
          </a:p>
        </p:txBody>
      </p:sp>
      <p:sp>
        <p:nvSpPr>
          <p:cNvPr id="13" name="TextBox 12">
            <a:hlinkClick r:id="rId3"/>
            <a:extLst>
              <a:ext uri="{FF2B5EF4-FFF2-40B4-BE49-F238E27FC236}">
                <a16:creationId xmlns:a16="http://schemas.microsoft.com/office/drawing/2014/main" id="{1CB3BBE3-DF25-3218-DD71-CB4703A16E95}"/>
              </a:ext>
            </a:extLst>
          </p:cNvPr>
          <p:cNvSpPr txBox="1"/>
          <p:nvPr/>
        </p:nvSpPr>
        <p:spPr>
          <a:xfrm>
            <a:off x="825500" y="3479800"/>
            <a:ext cx="4940300" cy="146194"/>
          </a:xfrm>
          <a:prstGeom prst="rect">
            <a:avLst/>
          </a:prstGeom>
          <a:noFill/>
        </p:spPr>
        <p:txBody>
          <a:bodyPr vert="horz" wrap="square" lIns="0" tIns="0" rIns="0" bIns="0" rtlCol="0">
            <a:spAutoFit/>
          </a:bodyPr>
          <a:lstStyle/>
          <a:p>
            <a:r>
              <a:rPr lang="en-US" sz="950" u="sng">
                <a:solidFill>
                  <a:srgbClr val="273363"/>
                </a:solidFill>
                <a:latin typeface="Calibri" panose="020F0502020204030204" pitchFamily="34" charset="0"/>
              </a:rPr>
              <a:t>GitHub repository and README</a:t>
            </a:r>
          </a:p>
        </p:txBody>
      </p:sp>
      <p:sp>
        <p:nvSpPr>
          <p:cNvPr id="14" name="TextBox 13">
            <a:hlinkClick r:id="rId4"/>
            <a:extLst>
              <a:ext uri="{FF2B5EF4-FFF2-40B4-BE49-F238E27FC236}">
                <a16:creationId xmlns:a16="http://schemas.microsoft.com/office/drawing/2014/main" id="{6EE320B4-59A8-29D2-6646-29903D421E20}"/>
              </a:ext>
            </a:extLst>
          </p:cNvPr>
          <p:cNvSpPr txBox="1"/>
          <p:nvPr/>
        </p:nvSpPr>
        <p:spPr>
          <a:xfrm>
            <a:off x="825500" y="3721100"/>
            <a:ext cx="4940300" cy="146194"/>
          </a:xfrm>
          <a:prstGeom prst="rect">
            <a:avLst/>
          </a:prstGeom>
          <a:noFill/>
        </p:spPr>
        <p:txBody>
          <a:bodyPr vert="horz" wrap="square" lIns="0" tIns="0" rIns="0" bIns="0" rtlCol="0">
            <a:spAutoFit/>
          </a:bodyPr>
          <a:lstStyle/>
          <a:p>
            <a:r>
              <a:rPr lang="en-US" sz="950" u="sng">
                <a:solidFill>
                  <a:srgbClr val="273363"/>
                </a:solidFill>
                <a:latin typeface="Calibri" panose="020F0502020204030204" pitchFamily="34" charset="0"/>
              </a:rPr>
              <a:t>Execution report</a:t>
            </a:r>
          </a:p>
        </p:txBody>
      </p:sp>
      <p:sp>
        <p:nvSpPr>
          <p:cNvPr id="15" name="TextBox 14">
            <a:hlinkClick r:id="rId5"/>
            <a:extLst>
              <a:ext uri="{FF2B5EF4-FFF2-40B4-BE49-F238E27FC236}">
                <a16:creationId xmlns:a16="http://schemas.microsoft.com/office/drawing/2014/main" id="{E22564FF-C99D-DE2D-A4A4-34581688282B}"/>
              </a:ext>
            </a:extLst>
          </p:cNvPr>
          <p:cNvSpPr txBox="1"/>
          <p:nvPr/>
        </p:nvSpPr>
        <p:spPr>
          <a:xfrm>
            <a:off x="825500" y="3962400"/>
            <a:ext cx="4940300" cy="146194"/>
          </a:xfrm>
          <a:prstGeom prst="rect">
            <a:avLst/>
          </a:prstGeom>
          <a:noFill/>
        </p:spPr>
        <p:txBody>
          <a:bodyPr vert="horz" wrap="square" lIns="0" tIns="0" rIns="0" bIns="0" rtlCol="0">
            <a:spAutoFit/>
          </a:bodyPr>
          <a:lstStyle/>
          <a:p>
            <a:r>
              <a:rPr lang="en-US" sz="950" u="sng">
                <a:solidFill>
                  <a:srgbClr val="273363"/>
                </a:solidFill>
                <a:latin typeface="Calibri" panose="020F0502020204030204" pitchFamily="34" charset="0"/>
              </a:rPr>
              <a:t>OpenAPI specification</a:t>
            </a:r>
          </a:p>
        </p:txBody>
      </p:sp>
      <p:sp>
        <p:nvSpPr>
          <p:cNvPr id="16" name="TextBox 15">
            <a:hlinkClick r:id="rId6"/>
            <a:extLst>
              <a:ext uri="{FF2B5EF4-FFF2-40B4-BE49-F238E27FC236}">
                <a16:creationId xmlns:a16="http://schemas.microsoft.com/office/drawing/2014/main" id="{C3737FD9-C25C-C150-E9BD-824753421C20}"/>
              </a:ext>
            </a:extLst>
          </p:cNvPr>
          <p:cNvSpPr txBox="1"/>
          <p:nvPr/>
        </p:nvSpPr>
        <p:spPr>
          <a:xfrm>
            <a:off x="825500" y="4203700"/>
            <a:ext cx="4940300" cy="146194"/>
          </a:xfrm>
          <a:prstGeom prst="rect">
            <a:avLst/>
          </a:prstGeom>
          <a:noFill/>
        </p:spPr>
        <p:txBody>
          <a:bodyPr vert="horz" wrap="square" lIns="0" tIns="0" rIns="0" bIns="0" rtlCol="0">
            <a:spAutoFit/>
          </a:bodyPr>
          <a:lstStyle/>
          <a:p>
            <a:r>
              <a:rPr lang="en-US" sz="950" u="sng">
                <a:solidFill>
                  <a:srgbClr val="273363"/>
                </a:solidFill>
                <a:latin typeface="Calibri" panose="020F0502020204030204" pitchFamily="34" charset="0"/>
              </a:rPr>
              <a:t>Live project page</a:t>
            </a:r>
          </a:p>
        </p:txBody>
      </p:sp>
      <p:sp>
        <p:nvSpPr>
          <p:cNvPr id="17" name="TextBox 16">
            <a:hlinkClick r:id="rId7"/>
            <a:extLst>
              <a:ext uri="{FF2B5EF4-FFF2-40B4-BE49-F238E27FC236}">
                <a16:creationId xmlns:a16="http://schemas.microsoft.com/office/drawing/2014/main" id="{A4831480-E7FE-84B9-43CF-D5E6E595B8CC}"/>
              </a:ext>
            </a:extLst>
          </p:cNvPr>
          <p:cNvSpPr txBox="1"/>
          <p:nvPr/>
        </p:nvSpPr>
        <p:spPr>
          <a:xfrm>
            <a:off x="825500" y="4445000"/>
            <a:ext cx="4940300" cy="146194"/>
          </a:xfrm>
          <a:prstGeom prst="rect">
            <a:avLst/>
          </a:prstGeom>
          <a:noFill/>
        </p:spPr>
        <p:txBody>
          <a:bodyPr vert="horz" wrap="square" lIns="0" tIns="0" rIns="0" bIns="0" rtlCol="0">
            <a:spAutoFit/>
          </a:bodyPr>
          <a:lstStyle/>
          <a:p>
            <a:r>
              <a:rPr lang="en-US" sz="950" u="sng">
                <a:solidFill>
                  <a:srgbClr val="273363"/>
                </a:solidFill>
                <a:latin typeface="Calibri" panose="020F0502020204030204" pitchFamily="34" charset="0"/>
              </a:rPr>
              <a:t>API base URL</a:t>
            </a:r>
          </a:p>
        </p:txBody>
      </p:sp>
      <p:sp>
        <p:nvSpPr>
          <p:cNvPr id="18" name="TextBox 17">
            <a:hlinkClick r:id="rId8"/>
            <a:extLst>
              <a:ext uri="{FF2B5EF4-FFF2-40B4-BE49-F238E27FC236}">
                <a16:creationId xmlns:a16="http://schemas.microsoft.com/office/drawing/2014/main" id="{6812D19A-8C75-FD84-9B01-B0215FE4F0FE}"/>
              </a:ext>
            </a:extLst>
          </p:cNvPr>
          <p:cNvSpPr txBox="1"/>
          <p:nvPr/>
        </p:nvSpPr>
        <p:spPr>
          <a:xfrm>
            <a:off x="825500" y="4686300"/>
            <a:ext cx="4940300" cy="146194"/>
          </a:xfrm>
          <a:prstGeom prst="rect">
            <a:avLst/>
          </a:prstGeom>
          <a:noFill/>
        </p:spPr>
        <p:txBody>
          <a:bodyPr vert="horz" wrap="square" lIns="0" tIns="0" rIns="0" bIns="0" rtlCol="0">
            <a:spAutoFit/>
          </a:bodyPr>
          <a:lstStyle/>
          <a:p>
            <a:r>
              <a:rPr lang="en-US" sz="950" u="sng">
                <a:solidFill>
                  <a:srgbClr val="273363"/>
                </a:solidFill>
                <a:latin typeface="Calibri" panose="020F0502020204030204" pitchFamily="34" charset="0"/>
              </a:rPr>
              <a:t>API readiness</a:t>
            </a:r>
          </a:p>
        </p:txBody>
      </p:sp>
      <p:sp>
        <p:nvSpPr>
          <p:cNvPr id="19" name="TextBox 18">
            <a:hlinkClick r:id="rId9"/>
            <a:extLst>
              <a:ext uri="{FF2B5EF4-FFF2-40B4-BE49-F238E27FC236}">
                <a16:creationId xmlns:a16="http://schemas.microsoft.com/office/drawing/2014/main" id="{1F2639BF-7DD4-799F-3095-0727304AB9C9}"/>
              </a:ext>
            </a:extLst>
          </p:cNvPr>
          <p:cNvSpPr txBox="1"/>
          <p:nvPr/>
        </p:nvSpPr>
        <p:spPr>
          <a:xfrm>
            <a:off x="825500" y="4927600"/>
            <a:ext cx="4940300" cy="146194"/>
          </a:xfrm>
          <a:prstGeom prst="rect">
            <a:avLst/>
          </a:prstGeom>
          <a:noFill/>
        </p:spPr>
        <p:txBody>
          <a:bodyPr vert="horz" wrap="square" lIns="0" tIns="0" rIns="0" bIns="0" rtlCol="0">
            <a:spAutoFit/>
          </a:bodyPr>
          <a:lstStyle/>
          <a:p>
            <a:r>
              <a:rPr lang="en-US" sz="950" u="sng">
                <a:solidFill>
                  <a:srgbClr val="273363"/>
                </a:solidFill>
                <a:latin typeface="Calibri" panose="020F0502020204030204" pitchFamily="34" charset="0"/>
              </a:rPr>
              <a:t>API liveness</a:t>
            </a:r>
          </a:p>
        </p:txBody>
      </p:sp>
      <p:sp>
        <p:nvSpPr>
          <p:cNvPr id="20" name="TextBox 19">
            <a:hlinkClick r:id="rId10"/>
            <a:extLst>
              <a:ext uri="{FF2B5EF4-FFF2-40B4-BE49-F238E27FC236}">
                <a16:creationId xmlns:a16="http://schemas.microsoft.com/office/drawing/2014/main" id="{336DBAC7-DD30-13CA-54DA-16DC6D37B2A9}"/>
              </a:ext>
            </a:extLst>
          </p:cNvPr>
          <p:cNvSpPr txBox="1"/>
          <p:nvPr/>
        </p:nvSpPr>
        <p:spPr>
          <a:xfrm>
            <a:off x="825500" y="5168900"/>
            <a:ext cx="4940300" cy="146194"/>
          </a:xfrm>
          <a:prstGeom prst="rect">
            <a:avLst/>
          </a:prstGeom>
          <a:noFill/>
        </p:spPr>
        <p:txBody>
          <a:bodyPr vert="horz" wrap="square" lIns="0" tIns="0" rIns="0" bIns="0" rtlCol="0">
            <a:spAutoFit/>
          </a:bodyPr>
          <a:lstStyle/>
          <a:p>
            <a:r>
              <a:rPr lang="en-US" sz="950" u="sng">
                <a:solidFill>
                  <a:srgbClr val="273363"/>
                </a:solidFill>
                <a:latin typeface="Calibri" panose="020F0502020204030204" pitchFamily="34" charset="0"/>
              </a:rPr>
              <a:t>Project owner profile</a:t>
            </a:r>
          </a:p>
        </p:txBody>
      </p:sp>
      <p:sp>
        <p:nvSpPr>
          <p:cNvPr id="21" name="TextBox 20">
            <a:hlinkClick r:id="rId11"/>
            <a:extLst>
              <a:ext uri="{FF2B5EF4-FFF2-40B4-BE49-F238E27FC236}">
                <a16:creationId xmlns:a16="http://schemas.microsoft.com/office/drawing/2014/main" id="{93F05D2D-9122-357F-8862-0B838D1A45A4}"/>
              </a:ext>
            </a:extLst>
          </p:cNvPr>
          <p:cNvSpPr txBox="1"/>
          <p:nvPr/>
        </p:nvSpPr>
        <p:spPr>
          <a:xfrm>
            <a:off x="825500" y="5410200"/>
            <a:ext cx="4940300" cy="146194"/>
          </a:xfrm>
          <a:prstGeom prst="rect">
            <a:avLst/>
          </a:prstGeom>
          <a:noFill/>
        </p:spPr>
        <p:txBody>
          <a:bodyPr vert="horz" wrap="square" lIns="0" tIns="0" rIns="0" bIns="0" rtlCol="0">
            <a:spAutoFit/>
          </a:bodyPr>
          <a:lstStyle/>
          <a:p>
            <a:r>
              <a:rPr lang="en-US" sz="950" u="sng">
                <a:solidFill>
                  <a:srgbClr val="273363"/>
                </a:solidFill>
                <a:latin typeface="Calibri" panose="020F0502020204030204" pitchFamily="34" charset="0"/>
              </a:rPr>
              <a:t>Render dashboard (login required)</a:t>
            </a:r>
          </a:p>
        </p:txBody>
      </p:sp>
    </p:spTree>
    <p:extLst>
      <p:ext uri="{BB962C8B-B14F-4D97-AF65-F5344CB8AC3E}">
        <p14:creationId xmlns:p14="http://schemas.microsoft.com/office/powerpoint/2010/main" val="3124411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1634</Words>
  <Application>Microsoft Office PowerPoint</Application>
  <PresentationFormat>Widescreen</PresentationFormat>
  <Paragraphs>189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Khaled Mohamed Ahmed Elsaed Elmasry</cp:lastModifiedBy>
  <cp:revision>4</cp:revision>
  <dcterms:created xsi:type="dcterms:W3CDTF">2026-10-17T14:31:14Z</dcterms:created>
  <dcterms:modified xsi:type="dcterms:W3CDTF">2026-10-24T16:09:02Z</dcterms:modified>
</cp:coreProperties>
</file>